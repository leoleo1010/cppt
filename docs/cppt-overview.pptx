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18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9176" y="2514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8FF9"/>
                </a:solidFill>
              </a:rPr>
              <a:t>L'EVOLUZIONE DEL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1228" y="454914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 dirty="0" smtClean="0"/>
          </a:p>
          <a:p>
            <a:r>
              <a:rPr lang="en-US" sz="3200" b="1" dirty="0" smtClean="0">
                <a:solidFill>
                  <a:srgbClr val="1F2A44"/>
                </a:solidFill>
              </a:rPr>
              <a:t>CPPT</a:t>
            </a:r>
          </a:p>
          <a:p>
            <a:r>
              <a:rPr lang="en-US" dirty="0">
                <a:solidFill>
                  <a:srgbClr val="5B6680"/>
                </a:solidFill>
              </a:rPr>
              <a:t>Cybersecurity Professional Profiles </a:t>
            </a:r>
            <a:r>
              <a:rPr lang="en-US" dirty="0" smtClean="0">
                <a:solidFill>
                  <a:srgbClr val="5B6680"/>
                </a:solidFill>
              </a:rPr>
              <a:t>Trainer</a:t>
            </a:r>
            <a:endParaRPr lang="en-US" dirty="0"/>
          </a:p>
          <a:p>
            <a:endParaRPr lang="en-US" sz="3200" b="1" dirty="0">
              <a:solidFill>
                <a:srgbClr val="1F2A44"/>
              </a:solidFill>
            </a:endParaRPr>
          </a:p>
          <a:p>
            <a:r>
              <a:rPr lang="en-US" sz="2400" b="1" dirty="0" err="1" smtClean="0">
                <a:solidFill>
                  <a:srgbClr val="1F2A44"/>
                </a:solidFill>
              </a:rPr>
              <a:t>Dallo</a:t>
            </a:r>
            <a:r>
              <a:rPr lang="en-US" sz="2400" b="1" dirty="0" smtClean="0">
                <a:solidFill>
                  <a:srgbClr val="1F2A44"/>
                </a:solidFill>
              </a:rPr>
              <a:t> </a:t>
            </a:r>
            <a:r>
              <a:rPr lang="en-US" sz="2400" b="1" dirty="0" err="1" smtClean="0">
                <a:solidFill>
                  <a:srgbClr val="1F2A44"/>
                </a:solidFill>
              </a:rPr>
              <a:t>scheletro</a:t>
            </a:r>
            <a:r>
              <a:rPr lang="en-US" sz="2400" b="1" dirty="0" smtClean="0">
                <a:solidFill>
                  <a:srgbClr val="1F2A44"/>
                </a:solidFill>
              </a:rPr>
              <a:t> a </a:t>
            </a:r>
            <a:r>
              <a:rPr lang="en-US" sz="2400" b="1" dirty="0" err="1" smtClean="0">
                <a:solidFill>
                  <a:srgbClr val="1F2A44"/>
                </a:solidFill>
              </a:rPr>
              <a:t>oggi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B6680"/>
                </a:solidFill>
              </a:rPr>
              <a:t>01 · PUNTO DI PARTENZA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30936" y="2011680"/>
            <a:ext cx="50292" cy="907085"/>
          </a:xfrm>
          <a:prstGeom prst="rect">
            <a:avLst/>
          </a:prstGeom>
          <a:solidFill>
            <a:srgbClr val="5B668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39112"/>
            <a:ext cx="10607040" cy="833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1F2A44"/>
                </a:solidFill>
              </a:rPr>
              <a:t>CPPT nasce da uno scheletro essenziale: </a:t>
            </a:r>
            <a:r>
              <a:rPr lang="en-US" sz="1300" b="1" dirty="0">
                <a:solidFill>
                  <a:srgbClr val="5B8FF9"/>
                </a:solidFill>
              </a:rPr>
              <a:t>le 12 figure professionali ECSF</a:t>
            </a:r>
            <a:r>
              <a:rPr lang="en-US" sz="1300" dirty="0">
                <a:solidFill>
                  <a:srgbClr val="1F2A44"/>
                </a:solidFill>
              </a:rPr>
              <a:t> mappate con tier di carriera reali, certificazioni verificate (</a:t>
            </a:r>
            <a:r>
              <a:rPr lang="en-US" sz="1300" b="1" dirty="0">
                <a:solidFill>
                  <a:srgbClr val="57C495"/>
                </a:solidFill>
              </a:rPr>
              <a:t>54 certificazioni, 17 enti</a:t>
            </a:r>
            <a:r>
              <a:rPr lang="en-US" sz="1300" dirty="0">
                <a:solidFill>
                  <a:srgbClr val="1F2A44"/>
                </a:solidFill>
              </a:rPr>
              <a:t>) e percorsi di crescita strutturati, fedeli al framework ufficiale ENISA. È la base su cui si costruisce tutto il resto.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Nello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specifico</a:t>
            </a:r>
            <a:r>
              <a:rPr sz="1300" dirty="0">
                <a:solidFill>
                  <a:srgbClr val="1F2A44"/>
                </a:solidFill>
              </a:rPr>
              <a:t>, </a:t>
            </a:r>
            <a:r>
              <a:rPr sz="1300" dirty="0" err="1">
                <a:solidFill>
                  <a:srgbClr val="1F2A44"/>
                </a:solidFill>
              </a:rPr>
              <a:t>ogni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figura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si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scompone</a:t>
            </a:r>
            <a:r>
              <a:rPr sz="1300" dirty="0">
                <a:solidFill>
                  <a:srgbClr val="1F2A44"/>
                </a:solidFill>
              </a:rPr>
              <a:t> in </a:t>
            </a:r>
            <a:r>
              <a:rPr sz="1300" dirty="0" err="1">
                <a:solidFill>
                  <a:srgbClr val="1F2A44"/>
                </a:solidFill>
              </a:rPr>
              <a:t>più</a:t>
            </a:r>
            <a:r>
              <a:rPr sz="1300" dirty="0">
                <a:solidFill>
                  <a:srgbClr val="1F2A44"/>
                </a:solidFill>
              </a:rPr>
              <a:t> tier di </a:t>
            </a:r>
            <a:r>
              <a:rPr sz="1300" dirty="0" err="1">
                <a:solidFill>
                  <a:srgbClr val="1F2A44"/>
                </a:solidFill>
              </a:rPr>
              <a:t>carriera</a:t>
            </a:r>
            <a:r>
              <a:rPr sz="1300" dirty="0">
                <a:solidFill>
                  <a:srgbClr val="1F2A44"/>
                </a:solidFill>
              </a:rPr>
              <a:t> — </a:t>
            </a:r>
            <a:r>
              <a:rPr sz="1300" dirty="0" err="1">
                <a:solidFill>
                  <a:srgbClr val="1F2A44"/>
                </a:solidFill>
              </a:rPr>
              <a:t>livelli</a:t>
            </a:r>
            <a:r>
              <a:rPr sz="1300" dirty="0">
                <a:solidFill>
                  <a:srgbClr val="1F2A44"/>
                </a:solidFill>
              </a:rPr>
              <a:t> di seniority </a:t>
            </a:r>
            <a:r>
              <a:rPr sz="1300" dirty="0" err="1">
                <a:solidFill>
                  <a:srgbClr val="1F2A44"/>
                </a:solidFill>
              </a:rPr>
              <a:t>progressivi</a:t>
            </a:r>
            <a:r>
              <a:rPr sz="1300" dirty="0">
                <a:solidFill>
                  <a:srgbClr val="1F2A44"/>
                </a:solidFill>
              </a:rPr>
              <a:t> — a cui </a:t>
            </a:r>
            <a:r>
              <a:rPr sz="1300" dirty="0" err="1">
                <a:solidFill>
                  <a:srgbClr val="1F2A44"/>
                </a:solidFill>
              </a:rPr>
              <a:t>sono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associati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relativi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laboratori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smtClean="0">
                <a:solidFill>
                  <a:srgbClr val="1F2A44"/>
                </a:solidFill>
              </a:rPr>
              <a:t>e </a:t>
            </a:r>
            <a:r>
              <a:rPr sz="1300" dirty="0">
                <a:solidFill>
                  <a:srgbClr val="1F2A44"/>
                </a:solidFill>
              </a:rPr>
              <a:t>le </a:t>
            </a:r>
            <a:r>
              <a:rPr sz="1300" dirty="0" err="1">
                <a:solidFill>
                  <a:srgbClr val="1F2A44"/>
                </a:solidFill>
              </a:rPr>
              <a:t>rispettive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certificazioni</a:t>
            </a:r>
            <a:r>
              <a:rPr sz="1300" dirty="0">
                <a:solidFill>
                  <a:srgbClr val="1F2A44"/>
                </a:solidFill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193085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0AB4D"/>
                </a:solidFill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" y="3513125"/>
            <a:ext cx="50292" cy="1148486"/>
          </a:xfrm>
          <a:prstGeom prst="rect">
            <a:avLst/>
          </a:prstGeom>
          <a:solidFill>
            <a:srgbClr val="F0AB4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40557"/>
            <a:ext cx="10607040" cy="1075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sz="1300" dirty="0">
                <a:solidFill>
                  <a:srgbClr val="1F2A44"/>
                </a:solidFill>
              </a:rPr>
              <a:t>Per </a:t>
            </a:r>
            <a:r>
              <a:rPr sz="1300" dirty="0" err="1">
                <a:solidFill>
                  <a:srgbClr val="1F2A44"/>
                </a:solidFill>
              </a:rPr>
              <a:t>rendere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l'addestramento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concreto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abbiamo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iniziato</a:t>
            </a:r>
            <a:r>
              <a:rPr sz="1300" dirty="0">
                <a:solidFill>
                  <a:srgbClr val="1F2A44"/>
                </a:solidFill>
              </a:rPr>
              <a:t> a </a:t>
            </a:r>
            <a:r>
              <a:rPr sz="1300" dirty="0" err="1">
                <a:solidFill>
                  <a:srgbClr val="1F2A44"/>
                </a:solidFill>
              </a:rPr>
              <a:t>costruire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dei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laboratori</a:t>
            </a:r>
            <a:r>
              <a:rPr sz="1300" dirty="0">
                <a:solidFill>
                  <a:srgbClr val="1F2A44"/>
                </a:solidFill>
              </a:rPr>
              <a:t> — al </a:t>
            </a:r>
            <a:r>
              <a:rPr sz="1300" dirty="0" err="1">
                <a:solidFill>
                  <a:srgbClr val="1F2A44"/>
                </a:solidFill>
              </a:rPr>
              <a:t>momento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una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bozza</a:t>
            </a:r>
            <a:r>
              <a:rPr sz="1300" dirty="0">
                <a:solidFill>
                  <a:srgbClr val="1F2A44"/>
                </a:solidFill>
              </a:rPr>
              <a:t> di </a:t>
            </a:r>
            <a:r>
              <a:rPr lang="it-IT" sz="1300" b="1" dirty="0" smtClean="0">
                <a:solidFill>
                  <a:srgbClr val="F0AB4D"/>
                </a:solidFill>
              </a:rPr>
              <a:t>47</a:t>
            </a:r>
            <a:r>
              <a:rPr sz="1300" b="1" dirty="0" smtClean="0">
                <a:solidFill>
                  <a:srgbClr val="F0AB4D"/>
                </a:solidFill>
              </a:rPr>
              <a:t> </a:t>
            </a:r>
            <a:r>
              <a:rPr sz="1300" b="1" dirty="0" err="1">
                <a:solidFill>
                  <a:srgbClr val="F0AB4D"/>
                </a:solidFill>
              </a:rPr>
              <a:t>laboratori</a:t>
            </a:r>
            <a:r>
              <a:rPr sz="1300" b="1" dirty="0">
                <a:solidFill>
                  <a:srgbClr val="F0AB4D"/>
                </a:solidFill>
              </a:rPr>
              <a:t> </a:t>
            </a:r>
            <a:r>
              <a:rPr sz="1300" b="1" dirty="0" smtClean="0">
                <a:solidFill>
                  <a:srgbClr val="F0AB4D"/>
                </a:solidFill>
              </a:rPr>
              <a:t>VM</a:t>
            </a:r>
            <a:r>
              <a:rPr sz="1300" dirty="0" smtClean="0">
                <a:solidFill>
                  <a:srgbClr val="1F2A44"/>
                </a:solidFill>
              </a:rPr>
              <a:t>, </a:t>
            </a:r>
            <a:r>
              <a:rPr sz="1300" dirty="0" err="1">
                <a:solidFill>
                  <a:srgbClr val="1F2A44"/>
                </a:solidFill>
              </a:rPr>
              <a:t>uno</a:t>
            </a:r>
            <a:r>
              <a:rPr sz="1300" dirty="0">
                <a:solidFill>
                  <a:srgbClr val="1F2A44"/>
                </a:solidFill>
              </a:rPr>
              <a:t> per </a:t>
            </a:r>
            <a:r>
              <a:rPr sz="1300" dirty="0" err="1">
                <a:solidFill>
                  <a:srgbClr val="1F2A44"/>
                </a:solidFill>
              </a:rPr>
              <a:t>ciascun</a:t>
            </a:r>
            <a:r>
              <a:rPr sz="1300" dirty="0">
                <a:solidFill>
                  <a:srgbClr val="1F2A44"/>
                </a:solidFill>
              </a:rPr>
              <a:t> tier, </a:t>
            </a:r>
            <a:r>
              <a:rPr sz="1300" dirty="0" err="1">
                <a:solidFill>
                  <a:srgbClr val="1F2A44"/>
                </a:solidFill>
              </a:rPr>
              <a:t>ciascuno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ancorato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ai</a:t>
            </a:r>
            <a:r>
              <a:rPr sz="1300" dirty="0">
                <a:solidFill>
                  <a:srgbClr val="1F2A44"/>
                </a:solidFill>
              </a:rPr>
              <a:t> task, skill e knowledge </a:t>
            </a:r>
            <a:r>
              <a:rPr sz="1300" dirty="0" err="1">
                <a:solidFill>
                  <a:srgbClr val="1F2A44"/>
                </a:solidFill>
              </a:rPr>
              <a:t>reali</a:t>
            </a:r>
            <a:r>
              <a:rPr sz="1300" dirty="0">
                <a:solidFill>
                  <a:srgbClr val="1F2A44"/>
                </a:solidFill>
              </a:rPr>
              <a:t> di </a:t>
            </a:r>
            <a:r>
              <a:rPr sz="1300" dirty="0" err="1">
                <a:solidFill>
                  <a:srgbClr val="1F2A44"/>
                </a:solidFill>
              </a:rPr>
              <a:t>quel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ruolo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specifico</a:t>
            </a:r>
            <a:r>
              <a:rPr sz="1300" dirty="0">
                <a:solidFill>
                  <a:srgbClr val="1F2A44"/>
                </a:solidFill>
              </a:rPr>
              <a:t>. </a:t>
            </a:r>
            <a:r>
              <a:rPr sz="1300" dirty="0" err="1">
                <a:solidFill>
                  <a:srgbClr val="1F2A44"/>
                </a:solidFill>
              </a:rPr>
              <a:t>Ogni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nuovo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ambiente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aggiunge</a:t>
            </a:r>
            <a:r>
              <a:rPr sz="1300" dirty="0">
                <a:solidFill>
                  <a:srgbClr val="1F2A44"/>
                </a:solidFill>
              </a:rPr>
              <a:t> la </a:t>
            </a:r>
            <a:r>
              <a:rPr sz="1300" dirty="0" err="1">
                <a:solidFill>
                  <a:srgbClr val="1F2A44"/>
                </a:solidFill>
              </a:rPr>
              <a:t>propria</a:t>
            </a:r>
            <a:r>
              <a:rPr sz="1300" dirty="0">
                <a:solidFill>
                  <a:srgbClr val="1F2A44"/>
                </a:solidFill>
              </a:rPr>
              <a:t> quota di </a:t>
            </a:r>
            <a:r>
              <a:rPr lang="it-IT" sz="1300" dirty="0" smtClean="0">
                <a:solidFill>
                  <a:srgbClr val="1F2A44"/>
                </a:solidFill>
              </a:rPr>
              <a:t>T S K </a:t>
            </a:r>
            <a:r>
              <a:rPr sz="1300" dirty="0" err="1" smtClean="0">
                <a:solidFill>
                  <a:srgbClr val="1F2A44"/>
                </a:solidFill>
              </a:rPr>
              <a:t>coperte</a:t>
            </a:r>
            <a:r>
              <a:rPr sz="1300" dirty="0">
                <a:solidFill>
                  <a:srgbClr val="1F2A44"/>
                </a:solidFill>
              </a:rPr>
              <a:t>, con </a:t>
            </a:r>
            <a:r>
              <a:rPr sz="1300" dirty="0" err="1">
                <a:solidFill>
                  <a:srgbClr val="1F2A44"/>
                </a:solidFill>
              </a:rPr>
              <a:t>l'obiettivo</a:t>
            </a:r>
            <a:r>
              <a:rPr sz="1300" dirty="0">
                <a:solidFill>
                  <a:srgbClr val="1F2A44"/>
                </a:solidFill>
              </a:rPr>
              <a:t> di </a:t>
            </a:r>
            <a:r>
              <a:rPr sz="1300" dirty="0" err="1">
                <a:solidFill>
                  <a:srgbClr val="1F2A44"/>
                </a:solidFill>
              </a:rPr>
              <a:t>arrivare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infine</a:t>
            </a:r>
            <a:r>
              <a:rPr sz="1300" dirty="0">
                <a:solidFill>
                  <a:srgbClr val="1F2A44"/>
                </a:solidFill>
              </a:rPr>
              <a:t> a </a:t>
            </a:r>
            <a:r>
              <a:rPr sz="1300" dirty="0" err="1">
                <a:solidFill>
                  <a:srgbClr val="1F2A44"/>
                </a:solidFill>
              </a:rPr>
              <a:t>rappresentare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l'intero</a:t>
            </a:r>
            <a:r>
              <a:rPr sz="1300" dirty="0">
                <a:solidFill>
                  <a:srgbClr val="1F2A44"/>
                </a:solidFill>
              </a:rPr>
              <a:t> set per </a:t>
            </a:r>
            <a:r>
              <a:rPr sz="1300" dirty="0" err="1">
                <a:solidFill>
                  <a:srgbClr val="1F2A44"/>
                </a:solidFill>
              </a:rPr>
              <a:t>ciascuna</a:t>
            </a:r>
            <a:r>
              <a:rPr sz="1300" dirty="0">
                <a:solidFill>
                  <a:srgbClr val="1F2A44"/>
                </a:solidFill>
              </a:rPr>
              <a:t> </a:t>
            </a:r>
            <a:r>
              <a:rPr sz="1300" dirty="0" err="1">
                <a:solidFill>
                  <a:srgbClr val="1F2A44"/>
                </a:solidFill>
              </a:rPr>
              <a:t>figura</a:t>
            </a:r>
            <a:r>
              <a:rPr sz="1300" dirty="0">
                <a:solidFill>
                  <a:srgbClr val="1F2A44"/>
                </a:solidFill>
              </a:rPr>
              <a:t>.</a:t>
            </a:r>
            <a:endParaRPr lang="en-US" sz="1300" dirty="0" smtClean="0">
              <a:solidFill>
                <a:srgbClr val="1F2A44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4935931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9B7FF0"/>
                </a:solidFill>
              </a:rPr>
              <a:t>03 · OGGI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" y="5255971"/>
            <a:ext cx="50292" cy="907085"/>
          </a:xfrm>
          <a:prstGeom prst="rect">
            <a:avLst/>
          </a:prstGeom>
          <a:solidFill>
            <a:srgbClr val="9B7FF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283403"/>
            <a:ext cx="10607040" cy="833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 err="1">
                <a:solidFill>
                  <a:srgbClr val="1F2A44"/>
                </a:solidFill>
              </a:rPr>
              <a:t>Oggi</a:t>
            </a:r>
            <a:r>
              <a:rPr lang="en-US" sz="1300" dirty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nel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dirty="0">
                <a:solidFill>
                  <a:srgbClr val="1F2A44"/>
                </a:solidFill>
              </a:rPr>
              <a:t>framework </a:t>
            </a:r>
            <a:r>
              <a:rPr lang="en-US" sz="1300" dirty="0" err="1" smtClean="0">
                <a:solidFill>
                  <a:srgbClr val="1F2A44"/>
                </a:solidFill>
              </a:rPr>
              <a:t>si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sta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sviluppando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anche</a:t>
            </a:r>
            <a:r>
              <a:rPr lang="en-US" sz="1300" dirty="0" smtClean="0">
                <a:solidFill>
                  <a:srgbClr val="1F2A44"/>
                </a:solidFill>
              </a:rPr>
              <a:t> la</a:t>
            </a:r>
            <a:r>
              <a:rPr lang="en-US" sz="1300" dirty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funzionalità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b="1" dirty="0">
                <a:solidFill>
                  <a:srgbClr val="9B7FF0"/>
                </a:solidFill>
              </a:rPr>
              <a:t>Profession Custom</a:t>
            </a:r>
            <a:r>
              <a:rPr lang="en-US" sz="1300" dirty="0">
                <a:solidFill>
                  <a:srgbClr val="1F2A44"/>
                </a:solidFill>
              </a:rPr>
              <a:t>: la possibilità di modellare qualunque ruolo interno — anche quelli che un'azienda definisce senza riferimento a uno standard — calcolarne l'affinità percentuale con le </a:t>
            </a:r>
            <a:r>
              <a:rPr lang="en-US" sz="1300" dirty="0" smtClean="0">
                <a:solidFill>
                  <a:srgbClr val="1F2A44"/>
                </a:solidFill>
              </a:rPr>
              <a:t>figure </a:t>
            </a:r>
            <a:r>
              <a:rPr lang="en-US" sz="1300" dirty="0" err="1" smtClean="0">
                <a:solidFill>
                  <a:srgbClr val="1F2A44"/>
                </a:solidFill>
              </a:rPr>
              <a:t>all’interno</a:t>
            </a:r>
            <a:r>
              <a:rPr lang="en-US" sz="1300" dirty="0" smtClean="0">
                <a:solidFill>
                  <a:srgbClr val="1F2A44"/>
                </a:solidFill>
              </a:rPr>
              <a:t> del framework (</a:t>
            </a:r>
            <a:r>
              <a:rPr lang="en-US" sz="1300" dirty="0" err="1" smtClean="0">
                <a:solidFill>
                  <a:srgbClr val="1F2A44"/>
                </a:solidFill>
              </a:rPr>
              <a:t>che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sono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basate</a:t>
            </a:r>
            <a:r>
              <a:rPr lang="en-US" sz="1300" dirty="0" smtClean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su</a:t>
            </a:r>
            <a:r>
              <a:rPr lang="en-US" sz="1300" dirty="0" smtClean="0">
                <a:solidFill>
                  <a:srgbClr val="1F2A44"/>
                </a:solidFill>
              </a:rPr>
              <a:t> standard) e </a:t>
            </a:r>
            <a:r>
              <a:rPr lang="en-US" sz="1300" dirty="0">
                <a:solidFill>
                  <a:srgbClr val="1F2A44"/>
                </a:solidFill>
              </a:rPr>
              <a:t>generare automaticamente un percorso </a:t>
            </a:r>
            <a:r>
              <a:rPr lang="en-US" sz="1300" dirty="0" err="1">
                <a:solidFill>
                  <a:srgbClr val="1F2A44"/>
                </a:solidFill>
              </a:rPr>
              <a:t>formativo</a:t>
            </a:r>
            <a:r>
              <a:rPr lang="en-US" sz="1300" dirty="0">
                <a:solidFill>
                  <a:srgbClr val="1F2A44"/>
                </a:solidFill>
              </a:rPr>
              <a:t> </a:t>
            </a:r>
            <a:r>
              <a:rPr lang="en-US" sz="1300" dirty="0" err="1" smtClean="0">
                <a:solidFill>
                  <a:srgbClr val="1F2A44"/>
                </a:solidFill>
              </a:rPr>
              <a:t>dedicato</a:t>
            </a:r>
            <a:r>
              <a:rPr lang="en-US" sz="1300" dirty="0">
                <a:solidFill>
                  <a:srgbClr val="1F2A44"/>
                </a:solidFill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2158" y="137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8FF9"/>
                </a:solidFill>
              </a:rPr>
              <a:t>ENISA · EUROPEAN CYBERSECURITY SKILLS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F2A44"/>
                </a:solidFill>
              </a:rPr>
              <a:t>CPPT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680"/>
                </a:solidFill>
              </a:rPr>
              <a:t>Cybersecurity Professional Profiles Trainer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F2A44"/>
                </a:solidFill>
              </a:rPr>
              <a:t>Molte aziende assegnano ruoli e percorsi di carriera in cybersecurity senza alcun riferimento a uno standard riconosciuto. CPPT risolve questo problema: mappa qualunque figura professionale — comprese quelle interne, non standard — </a:t>
            </a:r>
            <a:r>
              <a:rPr lang="en-US" sz="1450" dirty="0" err="1" smtClean="0">
                <a:solidFill>
                  <a:srgbClr val="1F2A44"/>
                </a:solidFill>
              </a:rPr>
              <a:t>sugli</a:t>
            </a:r>
            <a:r>
              <a:rPr lang="en-US" sz="1450" dirty="0" smtClean="0">
                <a:solidFill>
                  <a:srgbClr val="1F2A44"/>
                </a:solidFill>
              </a:rPr>
              <a:t> standard </a:t>
            </a:r>
            <a:r>
              <a:rPr lang="en-US" sz="1450" dirty="0" err="1" smtClean="0">
                <a:solidFill>
                  <a:srgbClr val="1F2A44"/>
                </a:solidFill>
              </a:rPr>
              <a:t>europei</a:t>
            </a:r>
            <a:r>
              <a:rPr lang="en-US" sz="1450" dirty="0" smtClean="0">
                <a:solidFill>
                  <a:srgbClr val="1F2A44"/>
                </a:solidFill>
              </a:rPr>
              <a:t>/</a:t>
            </a:r>
            <a:r>
              <a:rPr lang="en-US" sz="1450" dirty="0" err="1" smtClean="0">
                <a:solidFill>
                  <a:srgbClr val="1F2A44"/>
                </a:solidFill>
              </a:rPr>
              <a:t>mondiali</a:t>
            </a:r>
            <a:r>
              <a:rPr lang="en-US" sz="1450" dirty="0" smtClean="0">
                <a:solidFill>
                  <a:srgbClr val="1F2A44"/>
                </a:solidFill>
              </a:rPr>
              <a:t> con </a:t>
            </a:r>
            <a:r>
              <a:rPr lang="en-US" sz="1450" dirty="0">
                <a:solidFill>
                  <a:srgbClr val="1F2A44"/>
                </a:solidFill>
              </a:rPr>
              <a:t>tier di carriera reali, certificazioni verificate e pratica concreta </a:t>
            </a:r>
            <a:r>
              <a:rPr lang="en-US" sz="1450" dirty="0" err="1">
                <a:solidFill>
                  <a:srgbClr val="1F2A44"/>
                </a:solidFill>
              </a:rPr>
              <a:t>attraverso</a:t>
            </a:r>
            <a:r>
              <a:rPr lang="en-US" sz="1450" dirty="0">
                <a:solidFill>
                  <a:srgbClr val="1F2A44"/>
                </a:solidFill>
              </a:rPr>
              <a:t> </a:t>
            </a:r>
            <a:r>
              <a:rPr lang="en-US" sz="1450" dirty="0" smtClean="0">
                <a:solidFill>
                  <a:srgbClr val="1F2A44"/>
                </a:solidFill>
              </a:rPr>
              <a:t>laboratory.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BFBFD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611880"/>
            <a:ext cx="54864" cy="1417320"/>
          </a:xfrm>
          <a:prstGeom prst="rect">
            <a:avLst/>
          </a:prstGeom>
          <a:solidFill>
            <a:srgbClr val="5B8F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30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4279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680"/>
                </a:solidFill>
              </a:rPr>
              <a:t>Figure professionali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680"/>
                </a:solidFill>
              </a:rPr>
              <a:t>ECSF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07792" y="3611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BFBFD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07792" y="3611880"/>
            <a:ext cx="54864" cy="1417320"/>
          </a:xfrm>
          <a:prstGeom prst="rect">
            <a:avLst/>
          </a:prstGeom>
          <a:solidFill>
            <a:srgbClr val="EF6470"/>
          </a:solidFill>
          <a:ln/>
        </p:spPr>
      </p:sp>
      <p:sp>
        <p:nvSpPr>
          <p:cNvPr id="12" name="Text 10"/>
          <p:cNvSpPr/>
          <p:nvPr/>
        </p:nvSpPr>
        <p:spPr>
          <a:xfrm>
            <a:off x="3044952" y="3730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</a:rPr>
              <a:t>36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044952" y="4279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50" dirty="0">
                <a:solidFill>
                  <a:srgbClr val="5B6680"/>
                </a:solidFill>
              </a:rPr>
              <a:t>Tier di </a:t>
            </a:r>
            <a:r>
              <a:rPr sz="1050" dirty="0" err="1" smtClean="0">
                <a:solidFill>
                  <a:srgbClr val="5B6680"/>
                </a:solidFill>
              </a:rPr>
              <a:t>carriera</a:t>
            </a:r>
            <a:r>
              <a:rPr lang="it-IT" sz="1050" dirty="0" smtClean="0">
                <a:solidFill>
                  <a:srgbClr val="5B6680"/>
                </a:solidFill>
              </a:rPr>
              <a:t> ( in via di sviluppo)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75504" y="3611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BFBFD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5504" y="3611880"/>
            <a:ext cx="54864" cy="1417320"/>
          </a:xfrm>
          <a:prstGeom prst="rect">
            <a:avLst/>
          </a:prstGeom>
          <a:solidFill>
            <a:srgbClr val="F0AB4D"/>
          </a:solidFill>
          <a:ln/>
        </p:spPr>
      </p:sp>
      <p:sp>
        <p:nvSpPr>
          <p:cNvPr id="16" name="Text 14"/>
          <p:cNvSpPr/>
          <p:nvPr/>
        </p:nvSpPr>
        <p:spPr>
          <a:xfrm>
            <a:off x="5312664" y="3730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</a:rPr>
              <a:t>47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12664" y="4279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5B6680"/>
                </a:solidFill>
              </a:rPr>
              <a:t>Laboratori</a:t>
            </a:r>
            <a:r>
              <a:rPr lang="en-US" sz="1050" dirty="0">
                <a:solidFill>
                  <a:srgbClr val="5B6680"/>
                </a:solidFill>
              </a:rPr>
              <a:t> </a:t>
            </a:r>
            <a:r>
              <a:rPr lang="en-US" sz="1050" dirty="0" smtClean="0">
                <a:solidFill>
                  <a:srgbClr val="5B6680"/>
                </a:solidFill>
              </a:rPr>
              <a:t>hands-on </a:t>
            </a:r>
            <a:r>
              <a:rPr lang="en-US" sz="1050" dirty="0" smtClean="0">
                <a:solidFill>
                  <a:srgbClr val="5B6680"/>
                </a:solidFill>
              </a:rPr>
              <a:t>(in via di </a:t>
            </a:r>
            <a:r>
              <a:rPr lang="en-US" sz="1050" dirty="0" err="1" smtClean="0">
                <a:solidFill>
                  <a:srgbClr val="5B6680"/>
                </a:solidFill>
              </a:rPr>
              <a:t>sviluppo</a:t>
            </a:r>
            <a:r>
              <a:rPr lang="en-US" sz="1050" dirty="0" smtClean="0">
                <a:solidFill>
                  <a:srgbClr val="5B6680"/>
                </a:solidFill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43216" y="3611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BFBFD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3611880"/>
            <a:ext cx="54864" cy="1417320"/>
          </a:xfrm>
          <a:prstGeom prst="rect">
            <a:avLst/>
          </a:prstGeom>
          <a:solidFill>
            <a:srgbClr val="57C495"/>
          </a:solidFill>
          <a:ln/>
        </p:spPr>
      </p:sp>
      <p:sp>
        <p:nvSpPr>
          <p:cNvPr id="20" name="Text 18"/>
          <p:cNvSpPr/>
          <p:nvPr/>
        </p:nvSpPr>
        <p:spPr>
          <a:xfrm>
            <a:off x="7580376" y="3730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</a:rPr>
              <a:t>54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580376" y="4279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680"/>
                </a:solidFill>
              </a:rPr>
              <a:t>Certificazioni reali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it-IT" sz="1050" dirty="0" smtClean="0">
                <a:solidFill>
                  <a:srgbClr val="5B6680"/>
                </a:solidFill>
              </a:rPr>
              <a:t>M</a:t>
            </a:r>
            <a:r>
              <a:rPr sz="1050" dirty="0" err="1" smtClean="0">
                <a:solidFill>
                  <a:srgbClr val="5B6680"/>
                </a:solidFill>
              </a:rPr>
              <a:t>appate</a:t>
            </a:r>
            <a:r>
              <a:rPr lang="it-IT" sz="1050" dirty="0" smtClean="0">
                <a:solidFill>
                  <a:srgbClr val="5B6680"/>
                </a:solidFill>
              </a:rPr>
              <a:t> (in via di sviluppo)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710928" y="361188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BFBFD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10928" y="3611880"/>
            <a:ext cx="54864" cy="1417320"/>
          </a:xfrm>
          <a:prstGeom prst="rect">
            <a:avLst/>
          </a:prstGeom>
          <a:solidFill>
            <a:srgbClr val="9B7FF0"/>
          </a:solidFill>
          <a:ln/>
        </p:spPr>
      </p:sp>
      <p:sp>
        <p:nvSpPr>
          <p:cNvPr id="24" name="Text 22"/>
          <p:cNvSpPr/>
          <p:nvPr/>
        </p:nvSpPr>
        <p:spPr>
          <a:xfrm>
            <a:off x="9848088" y="37307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</a:rPr>
              <a:t>17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848088" y="42793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680"/>
                </a:solidFill>
              </a:rPr>
              <a:t>Enti certificatori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sz="1050">
                <a:solidFill>
                  <a:srgbClr val="5B6680"/>
                </a:solidFill>
              </a:rPr>
              <a:t>verificati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D97B3"/>
                </a:solidFill>
              </a:rPr>
              <a:t>Costruito sul framework ufficiale ENISA ECSF (settembre 2022) · tutti i dati di ruolo, tier, certificazione, task/skill/knowledge sono verificati contro fonti reali, mai inventati.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356</Words>
  <Application>Microsoft Office PowerPoint</Application>
  <PresentationFormat>Widescreen</PresentationFormat>
  <Paragraphs>32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CPPT — Project Overview</dc:title>
  <dc:subject>PptxGenJS Presentation</dc:subject>
  <dc:creator>CPPT</dc:creator>
  <cp:lastModifiedBy>Asus</cp:lastModifiedBy>
  <cp:revision>8</cp:revision>
  <dcterms:created xsi:type="dcterms:W3CDTF">2026-10-08T07:23:54Z</dcterms:created>
  <dcterms:modified xsi:type="dcterms:W3CDTF">2026-10-08T08:59:34Z</dcterms:modified>
</cp:coreProperties>
</file>