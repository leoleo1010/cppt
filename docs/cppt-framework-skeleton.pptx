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42062400" cy="23774400"/>
  <p:notesSz cx="23774400" cy="4206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133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CPPT — ENISA/ECSF Framework Skeleton (1/2)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4133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80"/>
                </a:solidFill>
              </a:rPr>
              <a:t>Governance &amp; legal (blue) · Defensive operations (red)  —  ogni figura: tier di carriera, certificazioni reali, task/skill/knowledge associati, laboratori e tabletop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726180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26180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26180" y="2258568"/>
            <a:ext cx="0" cy="16459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26180" y="3166872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26180" y="3203448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6180" y="3203448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6180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2540" y="3550920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2540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6180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6180" y="3550920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26180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6180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6180" y="3550920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09820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6180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6180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2258568"/>
            <a:ext cx="0" cy="283870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6180" y="5840984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6180" y="5877560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6180" y="5877560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6180" y="615188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42540" y="6225032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42540" y="6225032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6180" y="615188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6180" y="6225032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6180" y="6225032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6180" y="615188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6180" y="6225032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09820" y="6225032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6180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6180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6180" y="2258568"/>
            <a:ext cx="0" cy="539724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6180" y="839952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6180" y="843610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26180" y="843610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6180" y="8710422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842540" y="8783574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842540" y="878357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26180" y="8710422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6180" y="8783574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26180" y="878357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26180" y="8710422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6180" y="8783574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09820" y="878357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648188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648188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48188" y="2258568"/>
            <a:ext cx="0" cy="16459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648188" y="3166872"/>
            <a:ext cx="0" cy="3657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648188" y="320344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648188" y="3203448"/>
            <a:ext cx="0" cy="91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648188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64548" y="3550920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64548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648188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48188" y="3550920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648188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48188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48188" y="3550920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531828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648188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48188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48188" y="2258568"/>
            <a:ext cx="0" cy="341655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48188" y="6254242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916668" y="6336538"/>
            <a:ext cx="73152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916668" y="6336538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648188" y="6254242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48188" y="6336538"/>
            <a:ext cx="73152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379708" y="6336538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48188" y="6930898"/>
            <a:ext cx="0" cy="3657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48188" y="6967474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648188" y="6967474"/>
            <a:ext cx="0" cy="91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648188" y="724179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764548" y="7314946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764548" y="731494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48188" y="724179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48188" y="7314946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48188" y="731494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48188" y="724179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648188" y="7314946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531828" y="731494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648188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648188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648188" y="2258568"/>
            <a:ext cx="0" cy="718058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648188" y="10182860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648188" y="10219436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0648188" y="10219436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648188" y="1049375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64548" y="10566908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64548" y="1056690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648188" y="1049375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48188" y="1056690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48188" y="1056690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48188" y="1049375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648188" y="10566908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2531828" y="1056690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7570196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7570196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7570196" y="2258568"/>
            <a:ext cx="0" cy="16459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570196" y="3166872"/>
            <a:ext cx="0" cy="3657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7570196" y="320344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7570196" y="3203448"/>
            <a:ext cx="0" cy="91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7570196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5686556" y="3550920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5686556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7570196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7570196" y="3550920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7570196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7570196" y="347776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7570196" y="3550920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9453836" y="3550920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7570196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570196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7570196" y="2258568"/>
            <a:ext cx="0" cy="272313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7570196" y="5560822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6838676" y="5643118"/>
            <a:ext cx="73152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6838676" y="5643118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7570196" y="5560822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7570196" y="5643118"/>
            <a:ext cx="73152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8301716" y="5643118"/>
            <a:ext cx="0" cy="8229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7570196" y="6237478"/>
            <a:ext cx="0" cy="36576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7570196" y="6274054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7570196" y="6274054"/>
            <a:ext cx="0" cy="914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7570196" y="654837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5686556" y="6621526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5686556" y="662152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7570196" y="654837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7570196" y="6621526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7570196" y="662152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7570196" y="6548374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7570196" y="6621526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9453836" y="662152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7570196" y="2148840"/>
            <a:ext cx="0" cy="109728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7570196" y="225856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7570196" y="2258568"/>
            <a:ext cx="0" cy="590931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570196" y="8911590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7570196" y="8948166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7570196" y="8948166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7570196" y="922248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5686556" y="9295638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5686556" y="929563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7570196" y="922248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7570196" y="9295638"/>
            <a:ext cx="914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7570196" y="929563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7570196" y="9222486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7570196" y="9295638"/>
            <a:ext cx="1883640" cy="0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9453836" y="9295638"/>
            <a:ext cx="0" cy="73152"/>
          </a:xfrm>
          <a:prstGeom prst="line">
            <a:avLst/>
          </a:prstGeom>
          <a:noFill/>
          <a:ln w="12700">
            <a:solidFill>
              <a:srgbClr val="5B8FF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492204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4492204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4492204" y="2258568"/>
            <a:ext cx="0" cy="16459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24492204" y="3166872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4492204" y="320344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4492204" y="3203448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4492204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2608564" y="35509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2608564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4492204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4492204" y="355092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4492204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4492204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4492204" y="35509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6375844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492204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4492204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4492204" y="2258568"/>
            <a:ext cx="0" cy="272313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4492204" y="5725414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4492204" y="576199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4492204" y="5761990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4492204" y="603631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2608564" y="6109462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2608564" y="610946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4492204" y="603631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4492204" y="6109462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4492204" y="610946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492204" y="603631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492204" y="6109462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6375844" y="610946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4492204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4492204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492204" y="2258568"/>
            <a:ext cx="0" cy="574395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4492204" y="874623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4492204" y="878281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4492204" y="878281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4492204" y="905713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2608564" y="9130284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2608564" y="913028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4492204" y="905713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4492204" y="913028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4492204" y="913028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4492204" y="905713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4492204" y="9130284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6375844" y="913028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31414212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31414212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1414212" y="2258568"/>
            <a:ext cx="0" cy="16459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31414212" y="3166872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1414212" y="320344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31414212" y="3203448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1414212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29530572" y="35509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29530572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1414212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1414212" y="355092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1414212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1414212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1414212" y="35509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33297852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1414212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1414212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1414212" y="2258568"/>
            <a:ext cx="0" cy="283870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1414212" y="5840984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1414212" y="587756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1414212" y="5877560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1414212" y="615188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9530572" y="6225032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29530572" y="622503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1414212" y="615188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1414212" y="6225032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1414212" y="622503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1414212" y="615188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1414212" y="6225032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3297852" y="622503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1414212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1414212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1414212" y="2258568"/>
            <a:ext cx="0" cy="562838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1414212" y="863066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1414212" y="866724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1414212" y="866724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1414212" y="894156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29530572" y="9014714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29530572" y="90147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1414212" y="894156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1414212" y="901471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1414212" y="90147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1414212" y="8941562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1414212" y="9014714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3297852" y="90147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8336220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8336220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8336220" y="2258568"/>
            <a:ext cx="0" cy="16459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8336220" y="3166872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8336220" y="320344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8336220" y="3203448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8336220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6452580" y="35509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6452580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8336220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8336220" y="355092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8336220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8336220" y="34777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8336220" y="35509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0219860" y="35509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38336220" y="4360672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38336220" y="439724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8336220" y="4397248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8336220" y="46715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452580" y="47447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6452580" y="47447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38336220" y="46715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38336220" y="474472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38336220" y="47447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8336220" y="467156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38336220" y="474472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0219860" y="474472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8336220" y="5438902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8336220" y="547547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8336220" y="5475478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8336220" y="574979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6452580" y="582295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6452580" y="582295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8336220" y="574979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8336220" y="5822950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8336220" y="582295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8336220" y="574979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8336220" y="5822950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40219860" y="5822950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8336220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8336220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38336220" y="2258568"/>
            <a:ext cx="0" cy="453288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8336220" y="7370572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6141660" y="7452868"/>
            <a:ext cx="219456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6141660" y="7452868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8336220" y="7370572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7604700" y="7452868"/>
            <a:ext cx="73152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7604700" y="7452868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8336220" y="7370572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8336220" y="7452868"/>
            <a:ext cx="73152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9067740" y="7452868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8336220" y="7370572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8336220" y="7452868"/>
            <a:ext cx="219456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40530780" y="7452868"/>
            <a:ext cx="0" cy="8229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8336220" y="804722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8336220" y="808380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38336220" y="808380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8336220" y="835812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6452580" y="843127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6452580" y="843127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38336220" y="835812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38336220" y="843127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38336220" y="843127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38336220" y="835812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38336220" y="843127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0219860" y="843127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38336220" y="924102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38336220" y="927760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38336220" y="927760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38336220" y="955192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36452580" y="962507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36452580" y="962507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38336220" y="955192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38336220" y="962507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38336220" y="962507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38336220" y="955192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8336220" y="962507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40219860" y="962507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38336220" y="1078153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38336220" y="1081811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38336220" y="1081811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38336220" y="1109243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36452580" y="1116558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36452580" y="1116558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38336220" y="1109243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38336220" y="1116558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38336220" y="1116558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38336220" y="1109243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38336220" y="1116558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40219860" y="1116558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38336220" y="1243761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38336220" y="1247419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38336220" y="1247419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38336220" y="127485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36452580" y="1282166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36452580" y="1282166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38336220" y="127485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38336220" y="1282166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38336220" y="1282166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38336220" y="127485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38336220" y="1282166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40219860" y="1282166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38336220" y="1363141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38336220" y="1366799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38336220" y="1366799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38336220" y="139423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36452580" y="1401546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36452580" y="1401546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38336220" y="139423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38336220" y="1401546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38336220" y="1401546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38336220" y="1394231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38336220" y="1401546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40219860" y="1401546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38336220" y="1505635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38336220" y="1509293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38336220" y="1509293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38336220" y="1536725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36452580" y="1544040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36452580" y="1544040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38336220" y="1536725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38336220" y="1544040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38336220" y="1544040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38336220" y="1536725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38336220" y="1544040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40219860" y="1544040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8336220" y="16250158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38336220" y="16286734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38336220" y="16286734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38336220" y="1656105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36452580" y="1663420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36452580" y="1663420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38336220" y="1656105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38336220" y="1663420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38336220" y="1663420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38336220" y="16561054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38336220" y="16634206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40219860" y="1663420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38336220" y="2148840"/>
            <a:ext cx="0" cy="109728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38336220" y="225856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38336220" y="2258568"/>
            <a:ext cx="0" cy="1580642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38336220" y="18808700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38336220" y="1884527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38336220" y="18845276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38336220" y="1911959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36452580" y="19192748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36452580" y="1919274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8336220" y="1911959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8336220" y="1919274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38336220" y="1919274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38336220" y="1911959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38336220" y="19192748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40219860" y="1919274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38336220" y="20233640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38336220" y="2027021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38336220" y="20270216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38336220" y="2054453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36452580" y="20617688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36452580" y="2061768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38336220" y="2054453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38336220" y="2061768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38336220" y="2061768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38336220" y="2054453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38336220" y="20617688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40219860" y="2061768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38336220" y="21427440"/>
            <a:ext cx="0" cy="36576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38336220" y="21464016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38336220" y="21464016"/>
            <a:ext cx="0" cy="914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38336220" y="2173833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36452580" y="21811488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1" name="Shape 409"/>
          <p:cNvSpPr/>
          <p:nvPr/>
        </p:nvSpPr>
        <p:spPr>
          <a:xfrm>
            <a:off x="36452580" y="2181148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2" name="Shape 410"/>
          <p:cNvSpPr/>
          <p:nvPr/>
        </p:nvSpPr>
        <p:spPr>
          <a:xfrm>
            <a:off x="38336220" y="2173833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38336220" y="21811488"/>
            <a:ext cx="914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38336220" y="2181148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38336220" y="21738336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38336220" y="21811488"/>
            <a:ext cx="1883640" cy="0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40219860" y="21811488"/>
            <a:ext cx="0" cy="73152"/>
          </a:xfrm>
          <a:prstGeom prst="line">
            <a:avLst/>
          </a:prstGeom>
          <a:noFill/>
          <a:ln w="12700">
            <a:solidFill>
              <a:srgbClr val="EF6470"/>
            </a:solidFill>
            <a:prstDash val="solid"/>
          </a:ln>
        </p:spPr>
      </p:sp>
      <p:sp>
        <p:nvSpPr>
          <p:cNvPr id="418" name="Text 416"/>
          <p:cNvSpPr/>
          <p:nvPr/>
        </p:nvSpPr>
        <p:spPr>
          <a:xfrm>
            <a:off x="701802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5B8FF9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Chief Information Security Officer (CISO)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Enti certificatori: EC-Council, ISACA, ISC2</a:t>
            </a:r>
            <a:endParaRPr lang="en-US" sz="1100" dirty="0"/>
          </a:p>
        </p:txBody>
      </p:sp>
      <p:sp>
        <p:nvSpPr>
          <p:cNvPr id="419" name="Text 417"/>
          <p:cNvSpPr/>
          <p:nvPr/>
        </p:nvSpPr>
        <p:spPr>
          <a:xfrm>
            <a:off x="567385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IT/ICT Security 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EC-Council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Associate C|CISO</a:t>
            </a:r>
            <a:endParaRPr lang="en-US" sz="900" dirty="0"/>
          </a:p>
        </p:txBody>
      </p:sp>
      <p:sp>
        <p:nvSpPr>
          <p:cNvPr id="420" name="Text 418"/>
          <p:cNvSpPr/>
          <p:nvPr/>
        </p:nvSpPr>
        <p:spPr>
          <a:xfrm>
            <a:off x="946441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Weekend Call  (Tabletop)</a:t>
            </a:r>
            <a:endParaRPr lang="en-US" sz="700" dirty="0"/>
          </a:p>
        </p:txBody>
      </p:sp>
      <p:sp>
        <p:nvSpPr>
          <p:cNvPr id="421" name="Text 419"/>
          <p:cNvSpPr/>
          <p:nvPr/>
        </p:nvSpPr>
        <p:spPr>
          <a:xfrm>
            <a:off x="946441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Ensure the organisation's resiliency to cyber incidents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Define, implement, communicate and maintain cybersecurity goals, requirements, strategies, policies, aligned with the business strategy to support the organisational objectives</a:t>
            </a:r>
            <a:endParaRPr lang="en-US" sz="750" dirty="0"/>
          </a:p>
        </p:txBody>
      </p:sp>
      <p:sp>
        <p:nvSpPr>
          <p:cNvPr id="422" name="Text 420"/>
          <p:cNvSpPr/>
          <p:nvPr/>
        </p:nvSpPr>
        <p:spPr>
          <a:xfrm>
            <a:off x="2830080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solve cybersecurity-related issues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Establish a cybersecurity plan</a:t>
            </a:r>
            <a:endParaRPr lang="en-US" sz="750" dirty="0"/>
          </a:p>
        </p:txBody>
      </p:sp>
      <p:sp>
        <p:nvSpPr>
          <p:cNvPr id="423" name="Text 421"/>
          <p:cNvSpPr/>
          <p:nvPr/>
        </p:nvSpPr>
        <p:spPr>
          <a:xfrm>
            <a:off x="4713720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policies</a:t>
            </a:r>
            <a:endParaRPr lang="en-US" sz="750" dirty="0"/>
          </a:p>
        </p:txBody>
      </p:sp>
      <p:sp>
        <p:nvSpPr>
          <p:cNvPr id="424" name="Text 422"/>
          <p:cNvSpPr/>
          <p:nvPr/>
        </p:nvSpPr>
        <p:spPr>
          <a:xfrm>
            <a:off x="567385" y="5097272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Information Security 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ISACA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CISM</a:t>
            </a:r>
            <a:endParaRPr lang="en-US" sz="900" dirty="0"/>
          </a:p>
        </p:txBody>
      </p:sp>
      <p:sp>
        <p:nvSpPr>
          <p:cNvPr id="425" name="Text 423"/>
          <p:cNvSpPr/>
          <p:nvPr/>
        </p:nvSpPr>
        <p:spPr>
          <a:xfrm>
            <a:off x="946441" y="584098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72-Hour Clock  (Tabletop)</a:t>
            </a:r>
            <a:endParaRPr lang="en-US" sz="700" dirty="0"/>
          </a:p>
        </p:txBody>
      </p:sp>
      <p:sp>
        <p:nvSpPr>
          <p:cNvPr id="426" name="Text 424"/>
          <p:cNvSpPr/>
          <p:nvPr/>
        </p:nvSpPr>
        <p:spPr>
          <a:xfrm>
            <a:off x="946441" y="6298184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Report cybersecurity incidents, risks, findings to the senior management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Educate senior management about cybersecurity risks, threats and their impact to the organisation</a:t>
            </a:r>
            <a:endParaRPr lang="en-US" sz="750" dirty="0"/>
          </a:p>
        </p:txBody>
      </p:sp>
      <p:sp>
        <p:nvSpPr>
          <p:cNvPr id="427" name="Text 425"/>
          <p:cNvSpPr/>
          <p:nvPr/>
        </p:nvSpPr>
        <p:spPr>
          <a:xfrm>
            <a:off x="2830080" y="6298184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Analyse and comply with cybersecurity-related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coordinate and cooperate with internal and external stakeholders</a:t>
            </a:r>
            <a:endParaRPr lang="en-US" sz="750" dirty="0"/>
          </a:p>
        </p:txBody>
      </p:sp>
      <p:sp>
        <p:nvSpPr>
          <p:cNvPr id="428" name="Text 426"/>
          <p:cNvSpPr/>
          <p:nvPr/>
        </p:nvSpPr>
        <p:spPr>
          <a:xfrm>
            <a:off x="4713720" y="6298184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Ethical cybersecurity organisation requirements</a:t>
            </a:r>
            <a:endParaRPr lang="en-US" sz="750" dirty="0"/>
          </a:p>
        </p:txBody>
      </p:sp>
      <p:sp>
        <p:nvSpPr>
          <p:cNvPr id="429" name="Text 427"/>
          <p:cNvSpPr/>
          <p:nvPr/>
        </p:nvSpPr>
        <p:spPr>
          <a:xfrm>
            <a:off x="567385" y="7655814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Head of Information Security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(ISC)²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CISSP, ISSMP</a:t>
            </a:r>
            <a:endParaRPr lang="en-US" sz="900" dirty="0"/>
          </a:p>
        </p:txBody>
      </p:sp>
      <p:sp>
        <p:nvSpPr>
          <p:cNvPr id="430" name="Text 428"/>
          <p:cNvSpPr/>
          <p:nvPr/>
        </p:nvSpPr>
        <p:spPr>
          <a:xfrm>
            <a:off x="946441" y="839952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Ransom Call  (Tabletop)</a:t>
            </a:r>
            <a:endParaRPr lang="en-US" sz="700" dirty="0"/>
          </a:p>
        </p:txBody>
      </p:sp>
      <p:sp>
        <p:nvSpPr>
          <p:cNvPr id="431" name="Text 429"/>
          <p:cNvSpPr/>
          <p:nvPr/>
        </p:nvSpPr>
        <p:spPr>
          <a:xfrm>
            <a:off x="946441" y="8856726"/>
            <a:ext cx="1792200" cy="1514856"/>
          </a:xfrm>
          <a:prstGeom prst="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Prepare and present cybersecurity vision, strategies and policies for approval by the senior management of the organisation and ensure their execution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Ensure the senior management approves the cybersecurity risks of the organisation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relationships with cybersecurity-related authorities and communities</a:t>
            </a:r>
            <a:endParaRPr lang="en-US" sz="750" dirty="0"/>
          </a:p>
        </p:txBody>
      </p:sp>
      <p:sp>
        <p:nvSpPr>
          <p:cNvPr id="432" name="Text 430"/>
          <p:cNvSpPr/>
          <p:nvPr/>
        </p:nvSpPr>
        <p:spPr>
          <a:xfrm>
            <a:off x="2830080" y="8856726"/>
            <a:ext cx="1792200" cy="1514856"/>
          </a:xfrm>
          <a:prstGeom prst="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Develop, champion and lead the execution of a cybersecurity strategy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coordinate and cooperate with internal and external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Anticipate cybersecurity threats, needs and upcoming challenges</a:t>
            </a:r>
            <a:endParaRPr lang="en-US" sz="750" dirty="0"/>
          </a:p>
        </p:txBody>
      </p:sp>
      <p:sp>
        <p:nvSpPr>
          <p:cNvPr id="433" name="Text 431"/>
          <p:cNvSpPr/>
          <p:nvPr/>
        </p:nvSpPr>
        <p:spPr>
          <a:xfrm>
            <a:off x="4713720" y="8856726"/>
            <a:ext cx="1792200" cy="1514856"/>
          </a:xfrm>
          <a:prstGeom prst="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Risk management standards, methodologies and frameworks</a:t>
            </a:r>
            <a:endParaRPr lang="en-US" sz="750" dirty="0"/>
          </a:p>
        </p:txBody>
      </p:sp>
      <p:sp>
        <p:nvSpPr>
          <p:cNvPr id="434" name="Text 432"/>
          <p:cNvSpPr/>
          <p:nvPr/>
        </p:nvSpPr>
        <p:spPr>
          <a:xfrm>
            <a:off x="7623810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5B8FF9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 Legal, Policy &amp; Compliance Officer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 certificatore: IAPP</a:t>
            </a:r>
            <a:endParaRPr lang="en-US" sz="1100" dirty="0"/>
          </a:p>
        </p:txBody>
      </p:sp>
      <p:sp>
        <p:nvSpPr>
          <p:cNvPr id="435" name="Text 433"/>
          <p:cNvSpPr/>
          <p:nvPr/>
        </p:nvSpPr>
        <p:spPr>
          <a:xfrm>
            <a:off x="7489393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Compliance Analyst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IAPP, OCEG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CIPP, GRCP</a:t>
            </a:r>
            <a:endParaRPr lang="en-US" sz="900" dirty="0"/>
          </a:p>
        </p:txBody>
      </p:sp>
      <p:sp>
        <p:nvSpPr>
          <p:cNvPr id="436" name="Text 434"/>
          <p:cNvSpPr/>
          <p:nvPr/>
        </p:nvSpPr>
        <p:spPr>
          <a:xfrm>
            <a:off x="7868449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New Regulation  (VM Lab)</a:t>
            </a:r>
            <a:endParaRPr lang="en-US" sz="700" dirty="0"/>
          </a:p>
        </p:txBody>
      </p:sp>
      <p:sp>
        <p:nvSpPr>
          <p:cNvPr id="437" name="Text 435"/>
          <p:cNvSpPr/>
          <p:nvPr/>
        </p:nvSpPr>
        <p:spPr>
          <a:xfrm>
            <a:off x="7868449" y="3624072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document compliance gaps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Ensure compliance with and provide legal advice and guidance on data privacy and data protection standards, laws and regulations</a:t>
            </a:r>
            <a:endParaRPr lang="en-US" sz="750" dirty="0"/>
          </a:p>
        </p:txBody>
      </p:sp>
      <p:sp>
        <p:nvSpPr>
          <p:cNvPr id="438" name="Text 436"/>
          <p:cNvSpPr/>
          <p:nvPr/>
        </p:nvSpPr>
        <p:spPr>
          <a:xfrm>
            <a:off x="9752088" y="3624072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Understand legal framework modifications implications to the organisation's cybersecurity and data protection strategy and policies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Comprehensive understanding of the business strategy, models and products and ability to factor into legal, regulatory and standards' requirements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Explain and communicate data protection and privacy topics to stakeholders and users</a:t>
            </a:r>
            <a:endParaRPr lang="en-US" sz="750" dirty="0"/>
          </a:p>
        </p:txBody>
      </p:sp>
      <p:sp>
        <p:nvSpPr>
          <p:cNvPr id="439" name="Text 437"/>
          <p:cNvSpPr/>
          <p:nvPr/>
        </p:nvSpPr>
        <p:spPr>
          <a:xfrm>
            <a:off x="11635728" y="3624072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Legal, regulatory and legislative compliance requirements, recommendations and best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policies</a:t>
            </a:r>
            <a:endParaRPr lang="en-US" sz="750" dirty="0"/>
          </a:p>
        </p:txBody>
      </p:sp>
      <p:sp>
        <p:nvSpPr>
          <p:cNvPr id="440" name="Text 438"/>
          <p:cNvSpPr/>
          <p:nvPr/>
        </p:nvSpPr>
        <p:spPr>
          <a:xfrm>
            <a:off x="7489393" y="5675122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Data Protection 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IAPP, PECB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CIPM, ISO/IEC 27701 Lead Implementer</a:t>
            </a:r>
            <a:endParaRPr lang="en-US" sz="900" dirty="0"/>
          </a:p>
        </p:txBody>
      </p:sp>
      <p:sp>
        <p:nvSpPr>
          <p:cNvPr id="441" name="Text 439"/>
          <p:cNvSpPr/>
          <p:nvPr/>
        </p:nvSpPr>
        <p:spPr>
          <a:xfrm>
            <a:off x="9230868" y="641883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5B8FF9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Privacy &amp; Compliance Management</a:t>
            </a:r>
            <a:endParaRPr lang="en-US" sz="650" dirty="0"/>
          </a:p>
        </p:txBody>
      </p:sp>
      <p:sp>
        <p:nvSpPr>
          <p:cNvPr id="442" name="Text 440"/>
          <p:cNvSpPr/>
          <p:nvPr/>
        </p:nvSpPr>
        <p:spPr>
          <a:xfrm>
            <a:off x="10693908" y="641883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5B8FF9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Legal Advisory</a:t>
            </a:r>
            <a:endParaRPr lang="en-US" sz="650" dirty="0"/>
          </a:p>
        </p:txBody>
      </p:sp>
      <p:sp>
        <p:nvSpPr>
          <p:cNvPr id="443" name="Text 441"/>
          <p:cNvSpPr/>
          <p:nvPr/>
        </p:nvSpPr>
        <p:spPr>
          <a:xfrm>
            <a:off x="7868449" y="693089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New Customer App  (VM Lab)</a:t>
            </a:r>
            <a:endParaRPr lang="en-US" sz="700" dirty="0"/>
          </a:p>
        </p:txBody>
      </p:sp>
      <p:sp>
        <p:nvSpPr>
          <p:cNvPr id="444" name="Text 442"/>
          <p:cNvSpPr/>
          <p:nvPr/>
        </p:nvSpPr>
        <p:spPr>
          <a:xfrm>
            <a:off x="7868449" y="7388098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privacy impact assessments and develop, maintain, communicate and train upon the privacy policies,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Act as a key contact point to handle queries and complaints regarding data processing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and propose staff awareness training to achieve compliance and foster a culture of data protection within the organization</a:t>
            </a:r>
            <a:endParaRPr lang="en-US" sz="750" dirty="0"/>
          </a:p>
        </p:txBody>
      </p:sp>
      <p:sp>
        <p:nvSpPr>
          <p:cNvPr id="445" name="Text 443"/>
          <p:cNvSpPr/>
          <p:nvPr/>
        </p:nvSpPr>
        <p:spPr>
          <a:xfrm>
            <a:off x="9752088" y="7388098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Conduct, monitor and review privacy impact assessments using standards, frameworks, acknowledged methodologies and tools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Carry out working-life practices of the data protection and privacy issues involved in the implementation of the organisational processes, finance and business strategy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Explain and communicate data protection and privacy topics to stakeholders and users</a:t>
            </a:r>
            <a:endParaRPr lang="en-US" sz="750" dirty="0"/>
          </a:p>
        </p:txBody>
      </p:sp>
      <p:sp>
        <p:nvSpPr>
          <p:cNvPr id="446" name="Text 444"/>
          <p:cNvSpPr/>
          <p:nvPr/>
        </p:nvSpPr>
        <p:spPr>
          <a:xfrm>
            <a:off x="11635728" y="7388098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Privacy impact assessment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Legal, regulatory and legislative compliance requirements, recommendations and best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standards, methodologies and frameworks</a:t>
            </a:r>
            <a:endParaRPr lang="en-US" sz="750" dirty="0"/>
          </a:p>
        </p:txBody>
      </p:sp>
      <p:sp>
        <p:nvSpPr>
          <p:cNvPr id="447" name="Text 445"/>
          <p:cNvSpPr/>
          <p:nvPr/>
        </p:nvSpPr>
        <p:spPr>
          <a:xfrm>
            <a:off x="7489393" y="9439148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Chief Privacy 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IAPP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FIP</a:t>
            </a:r>
            <a:endParaRPr lang="en-US" sz="900" dirty="0"/>
          </a:p>
        </p:txBody>
      </p:sp>
      <p:sp>
        <p:nvSpPr>
          <p:cNvPr id="448" name="Text 446"/>
          <p:cNvSpPr/>
          <p:nvPr/>
        </p:nvSpPr>
        <p:spPr>
          <a:xfrm>
            <a:off x="7868449" y="1018286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Regulator's Call  (Tabletop)</a:t>
            </a:r>
            <a:endParaRPr lang="en-US" sz="700" dirty="0"/>
          </a:p>
        </p:txBody>
      </p:sp>
      <p:sp>
        <p:nvSpPr>
          <p:cNvPr id="449" name="Text 447"/>
          <p:cNvSpPr/>
          <p:nvPr/>
        </p:nvSpPr>
        <p:spPr>
          <a:xfrm>
            <a:off x="7868449" y="10640060"/>
            <a:ext cx="1792200" cy="1977136"/>
          </a:xfrm>
          <a:prstGeom prst="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Contribute to the development of the organisation's cybersecurity strategy, policy and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Cooperate and share information with authorities and professional groups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Manage legal aspects of information security responsibilities and third-party relations</a:t>
            </a:r>
            <a:endParaRPr lang="en-US" sz="750" dirty="0"/>
          </a:p>
        </p:txBody>
      </p:sp>
      <p:sp>
        <p:nvSpPr>
          <p:cNvPr id="450" name="Text 448"/>
          <p:cNvSpPr/>
          <p:nvPr/>
        </p:nvSpPr>
        <p:spPr>
          <a:xfrm>
            <a:off x="9752088" y="10640060"/>
            <a:ext cx="1792200" cy="1977136"/>
          </a:xfrm>
          <a:prstGeom prst="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Lead the development of appropriate cybersecurity and privacy policies and procedures that complement the business needs and legal requirements; further ensure its acceptance, comprehension and implementation and communicate it between the involved parties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Understand, practice and adhere to ethical requirements and standards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Comprehensive understanding of the business strategy, models and products and ability to factor into legal, regulatory and standards' requirements</a:t>
            </a:r>
            <a:endParaRPr lang="en-US" sz="750" dirty="0"/>
          </a:p>
        </p:txBody>
      </p:sp>
      <p:sp>
        <p:nvSpPr>
          <p:cNvPr id="451" name="Text 449"/>
          <p:cNvSpPr/>
          <p:nvPr/>
        </p:nvSpPr>
        <p:spPr>
          <a:xfrm>
            <a:off x="11635728" y="10640060"/>
            <a:ext cx="1792200" cy="1977136"/>
          </a:xfrm>
          <a:prstGeom prst="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Legal, regulatory and legislative compliance requirements, recommendations and best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policies</a:t>
            </a:r>
            <a:endParaRPr lang="en-US" sz="750" dirty="0"/>
          </a:p>
        </p:txBody>
      </p:sp>
      <p:sp>
        <p:nvSpPr>
          <p:cNvPr id="452" name="Text 450"/>
          <p:cNvSpPr/>
          <p:nvPr/>
        </p:nvSpPr>
        <p:spPr>
          <a:xfrm>
            <a:off x="14545818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5B8FF9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Cybersecurity Implementer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Enti certificatori: CompTIA, GIAC, (ISC)²</a:t>
            </a:r>
            <a:endParaRPr lang="en-US" sz="1100" dirty="0"/>
          </a:p>
        </p:txBody>
      </p:sp>
      <p:sp>
        <p:nvSpPr>
          <p:cNvPr id="453" name="Text 451"/>
          <p:cNvSpPr/>
          <p:nvPr/>
        </p:nvSpPr>
        <p:spPr>
          <a:xfrm>
            <a:off x="14411401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Associate Security Engineer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CompTIA, GIAC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Security+, GSEC</a:t>
            </a:r>
            <a:endParaRPr lang="en-US" sz="900" dirty="0"/>
          </a:p>
        </p:txBody>
      </p:sp>
      <p:sp>
        <p:nvSpPr>
          <p:cNvPr id="454" name="Text 452"/>
          <p:cNvSpPr/>
          <p:nvPr/>
        </p:nvSpPr>
        <p:spPr>
          <a:xfrm>
            <a:off x="14790457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Hardening Checklist  (VM Lab)</a:t>
            </a:r>
            <a:endParaRPr lang="en-US" sz="700" dirty="0"/>
          </a:p>
        </p:txBody>
      </p:sp>
      <p:sp>
        <p:nvSpPr>
          <p:cNvPr id="455" name="Text 453"/>
          <p:cNvSpPr/>
          <p:nvPr/>
        </p:nvSpPr>
        <p:spPr>
          <a:xfrm>
            <a:off x="14790457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Securely configure systems, services and products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Implement, apply and manage patches to products to address technical vulnerabilities</a:t>
            </a:r>
            <a:endParaRPr lang="en-US" sz="750" dirty="0"/>
          </a:p>
        </p:txBody>
      </p:sp>
      <p:sp>
        <p:nvSpPr>
          <p:cNvPr id="456" name="Text 454"/>
          <p:cNvSpPr/>
          <p:nvPr/>
        </p:nvSpPr>
        <p:spPr>
          <a:xfrm>
            <a:off x="16674096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Configure solutions according to the organisation's security policy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solve cybersecurity-related issues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Collaborate with other team members and colleagues</a:t>
            </a:r>
            <a:endParaRPr lang="en-US" sz="750" dirty="0"/>
          </a:p>
        </p:txBody>
      </p:sp>
      <p:sp>
        <p:nvSpPr>
          <p:cNvPr id="457" name="Text 455"/>
          <p:cNvSpPr/>
          <p:nvPr/>
        </p:nvSpPr>
        <p:spPr>
          <a:xfrm>
            <a:off x="18557736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controls and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Operating systems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Testing procedures</a:t>
            </a:r>
            <a:endParaRPr lang="en-US" sz="750" dirty="0"/>
          </a:p>
        </p:txBody>
      </p:sp>
      <p:sp>
        <p:nvSpPr>
          <p:cNvPr id="458" name="Text 456"/>
          <p:cNvSpPr/>
          <p:nvPr/>
        </p:nvSpPr>
        <p:spPr>
          <a:xfrm>
            <a:off x="14411401" y="4981702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Cybersecurity Engineer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(ISC)²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SSCP</a:t>
            </a:r>
            <a:endParaRPr lang="en-US" sz="900" dirty="0"/>
          </a:p>
        </p:txBody>
      </p:sp>
      <p:sp>
        <p:nvSpPr>
          <p:cNvPr id="459" name="Text 457"/>
          <p:cNvSpPr/>
          <p:nvPr/>
        </p:nvSpPr>
        <p:spPr>
          <a:xfrm>
            <a:off x="16152876" y="572541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5B8FF9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Secure Development</a:t>
            </a:r>
            <a:endParaRPr lang="en-US" sz="650" dirty="0"/>
          </a:p>
        </p:txBody>
      </p:sp>
      <p:sp>
        <p:nvSpPr>
          <p:cNvPr id="460" name="Text 458"/>
          <p:cNvSpPr/>
          <p:nvPr/>
        </p:nvSpPr>
        <p:spPr>
          <a:xfrm>
            <a:off x="17615916" y="572541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5B8FF9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Systems Operations</a:t>
            </a:r>
            <a:endParaRPr lang="en-US" sz="650" dirty="0"/>
          </a:p>
        </p:txBody>
      </p:sp>
      <p:sp>
        <p:nvSpPr>
          <p:cNvPr id="461" name="Text 459"/>
          <p:cNvSpPr/>
          <p:nvPr/>
        </p:nvSpPr>
        <p:spPr>
          <a:xfrm>
            <a:off x="14790457" y="623747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WAF Rollout  (VM Lab)</a:t>
            </a:r>
            <a:endParaRPr lang="en-US" sz="700" dirty="0"/>
          </a:p>
        </p:txBody>
      </p:sp>
      <p:sp>
        <p:nvSpPr>
          <p:cNvPr id="462" name="Text 460"/>
          <p:cNvSpPr/>
          <p:nvPr/>
        </p:nvSpPr>
        <p:spPr>
          <a:xfrm>
            <a:off x="14790457" y="669467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Integrate cybersecurity solutions and ensure their sound operation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 and assure the performance of the implemented cybersecurity controls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Document and report on the security of systems, services and products</a:t>
            </a:r>
            <a:endParaRPr lang="en-US" sz="750" dirty="0"/>
          </a:p>
        </p:txBody>
      </p:sp>
      <p:sp>
        <p:nvSpPr>
          <p:cNvPr id="463" name="Text 461"/>
          <p:cNvSpPr/>
          <p:nvPr/>
        </p:nvSpPr>
        <p:spPr>
          <a:xfrm>
            <a:off x="16674096" y="669467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Integrate cybersecurity solutions to the organisation's infrastructure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Assess the security and performance of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</p:txBody>
      </p:sp>
      <p:sp>
        <p:nvSpPr>
          <p:cNvPr id="464" name="Text 462"/>
          <p:cNvSpPr/>
          <p:nvPr/>
        </p:nvSpPr>
        <p:spPr>
          <a:xfrm>
            <a:off x="18557736" y="669467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networks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controls and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technologies</a:t>
            </a:r>
            <a:endParaRPr lang="en-US" sz="750" dirty="0"/>
          </a:p>
        </p:txBody>
      </p:sp>
      <p:sp>
        <p:nvSpPr>
          <p:cNvPr id="465" name="Text 463"/>
          <p:cNvSpPr/>
          <p:nvPr/>
        </p:nvSpPr>
        <p:spPr>
          <a:xfrm>
            <a:off x="14411401" y="8167878"/>
            <a:ext cx="6317590" cy="579120"/>
          </a:xfrm>
          <a:prstGeom prst="rect">
            <a:avLst>
              <a:gd name="adj" fmla="val 7895"/>
            </a:avLst>
          </a:prstGeom>
          <a:solidFill>
            <a:srgbClr val="EAF1FD"/>
          </a:solidFill>
          <a:ln w="12700">
            <a:solidFill>
              <a:srgbClr val="5B8FF9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Principal Security Engineer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GSE</a:t>
            </a:r>
            <a:endParaRPr lang="en-US" sz="900" dirty="0"/>
          </a:p>
        </p:txBody>
      </p:sp>
      <p:sp>
        <p:nvSpPr>
          <p:cNvPr id="466" name="Text 464"/>
          <p:cNvSpPr/>
          <p:nvPr/>
        </p:nvSpPr>
        <p:spPr>
          <a:xfrm>
            <a:off x="14790457" y="891159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Legacy Bridge  (Tabletop)</a:t>
            </a:r>
            <a:endParaRPr lang="en-US" sz="700" dirty="0"/>
          </a:p>
        </p:txBody>
      </p:sp>
      <p:sp>
        <p:nvSpPr>
          <p:cNvPr id="467" name="Text 465"/>
          <p:cNvSpPr/>
          <p:nvPr/>
        </p:nvSpPr>
        <p:spPr>
          <a:xfrm>
            <a:off x="14790457" y="9368790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Develop, implement, maintain, upgrade, test cybersecurity products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Maintain and upgrade the security of systems, services and products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Work close with the IT/OT personnel on cybersecurity-related actions</a:t>
            </a:r>
            <a:endParaRPr lang="en-US" sz="750" dirty="0"/>
          </a:p>
        </p:txBody>
      </p:sp>
      <p:sp>
        <p:nvSpPr>
          <p:cNvPr id="468" name="Text 466"/>
          <p:cNvSpPr/>
          <p:nvPr/>
        </p:nvSpPr>
        <p:spPr>
          <a:xfrm>
            <a:off x="16674096" y="9368790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solve cybersecurity-related issues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code, scripts and programmes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Collaborate with other team members and colleagues</a:t>
            </a:r>
            <a:endParaRPr lang="en-US" sz="750" dirty="0"/>
          </a:p>
        </p:txBody>
      </p:sp>
      <p:sp>
        <p:nvSpPr>
          <p:cNvPr id="469" name="Text 467"/>
          <p:cNvSpPr/>
          <p:nvPr/>
        </p:nvSpPr>
        <p:spPr>
          <a:xfrm>
            <a:off x="18557736" y="9368790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B8FF9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Offensive and defensive security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Secure development lifecycle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networks security</a:t>
            </a:r>
            <a:endParaRPr lang="en-US" sz="750" dirty="0"/>
          </a:p>
        </p:txBody>
      </p:sp>
      <p:sp>
        <p:nvSpPr>
          <p:cNvPr id="470" name="Text 468"/>
          <p:cNvSpPr/>
          <p:nvPr/>
        </p:nvSpPr>
        <p:spPr>
          <a:xfrm>
            <a:off x="21467826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EF6470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 Incident Responder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 certificatore: CREST</a:t>
            </a:r>
            <a:endParaRPr lang="en-US" sz="1100" dirty="0"/>
          </a:p>
        </p:txBody>
      </p:sp>
      <p:sp>
        <p:nvSpPr>
          <p:cNvPr id="471" name="Text 469"/>
          <p:cNvSpPr/>
          <p:nvPr/>
        </p:nvSpPr>
        <p:spPr>
          <a:xfrm>
            <a:off x="21333409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Tier 1 – Triage &amp; Detection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EC-Council,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ECIH, CPIA</a:t>
            </a:r>
            <a:endParaRPr lang="en-US" sz="900" dirty="0"/>
          </a:p>
        </p:txBody>
      </p:sp>
      <p:sp>
        <p:nvSpPr>
          <p:cNvPr id="472" name="Text 470"/>
          <p:cNvSpPr/>
          <p:nvPr/>
        </p:nvSpPr>
        <p:spPr>
          <a:xfrm>
            <a:off x="21712465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Alert Queue  (VM Lab)</a:t>
            </a:r>
            <a:endParaRPr lang="en-US" sz="700" dirty="0"/>
          </a:p>
        </p:txBody>
      </p:sp>
      <p:sp>
        <p:nvSpPr>
          <p:cNvPr id="473" name="Text 471"/>
          <p:cNvSpPr/>
          <p:nvPr/>
        </p:nvSpPr>
        <p:spPr>
          <a:xfrm>
            <a:off x="21712465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analyse, mitigate and communicate cybersecurity incidents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Document incident results analysis and incident handling actions</a:t>
            </a:r>
            <a:endParaRPr lang="en-US" sz="750" dirty="0"/>
          </a:p>
        </p:txBody>
      </p:sp>
      <p:sp>
        <p:nvSpPr>
          <p:cNvPr id="474" name="Text 472"/>
          <p:cNvSpPr/>
          <p:nvPr/>
        </p:nvSpPr>
        <p:spPr>
          <a:xfrm>
            <a:off x="23596104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Manage and analyse log files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Practice all technical, functional and operational aspects of cybersecurity incident handling and response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Work under pressure</a:t>
            </a:r>
            <a:endParaRPr lang="en-US" sz="750" dirty="0"/>
          </a:p>
        </p:txBody>
      </p:sp>
      <p:sp>
        <p:nvSpPr>
          <p:cNvPr id="475" name="Text 473"/>
          <p:cNvSpPr/>
          <p:nvPr/>
        </p:nvSpPr>
        <p:spPr>
          <a:xfrm>
            <a:off x="25479744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Incident handling tools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 threats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Incident handling standards, methodologies and frameworks</a:t>
            </a:r>
            <a:endParaRPr lang="en-US" sz="750" dirty="0"/>
          </a:p>
        </p:txBody>
      </p:sp>
      <p:sp>
        <p:nvSpPr>
          <p:cNvPr id="476" name="Text 474"/>
          <p:cNvSpPr/>
          <p:nvPr/>
        </p:nvSpPr>
        <p:spPr>
          <a:xfrm>
            <a:off x="21333409" y="4981702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Tier 2 – Investigation &amp; Containment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GCIH, CRIA</a:t>
            </a:r>
            <a:endParaRPr lang="en-US" sz="900" dirty="0"/>
          </a:p>
        </p:txBody>
      </p:sp>
      <p:sp>
        <p:nvSpPr>
          <p:cNvPr id="477" name="Text 475"/>
          <p:cNvSpPr/>
          <p:nvPr/>
        </p:nvSpPr>
        <p:spPr>
          <a:xfrm>
            <a:off x="21712465" y="572541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Patient Zero  (VM Lab)</a:t>
            </a:r>
            <a:endParaRPr lang="en-US" sz="700" dirty="0"/>
          </a:p>
        </p:txBody>
      </p:sp>
      <p:sp>
        <p:nvSpPr>
          <p:cNvPr id="478" name="Text 476"/>
          <p:cNvSpPr/>
          <p:nvPr/>
        </p:nvSpPr>
        <p:spPr>
          <a:xfrm>
            <a:off x="21712465" y="6182614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analyse, mitigate and communicate cybersecurity incidents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Evaluate the resilience of the cybersecurity controls and mitigation actions taken after a cybersecurity or data breach incident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Document incident results analysis and incident handling actions</a:t>
            </a:r>
            <a:endParaRPr lang="en-US" sz="750" dirty="0"/>
          </a:p>
        </p:txBody>
      </p:sp>
      <p:sp>
        <p:nvSpPr>
          <p:cNvPr id="479" name="Text 477"/>
          <p:cNvSpPr/>
          <p:nvPr/>
        </p:nvSpPr>
        <p:spPr>
          <a:xfrm>
            <a:off x="23596104" y="6182614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Work on operating systems, servers, clouds and relevant infrastructures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Collect, analyse and correlate cyber threat information originating from multiple sources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Practice all technical, functional and operational aspects of cybersecurity incident handling and response</a:t>
            </a:r>
            <a:endParaRPr lang="en-US" sz="750" dirty="0"/>
          </a:p>
        </p:txBody>
      </p:sp>
      <p:sp>
        <p:nvSpPr>
          <p:cNvPr id="480" name="Text 478"/>
          <p:cNvSpPr/>
          <p:nvPr/>
        </p:nvSpPr>
        <p:spPr>
          <a:xfrm>
            <a:off x="25479744" y="6182614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attack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networks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Operating systems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systems vulnerabilities</a:t>
            </a:r>
            <a:endParaRPr lang="en-US" sz="750" dirty="0"/>
          </a:p>
        </p:txBody>
      </p:sp>
      <p:sp>
        <p:nvSpPr>
          <p:cNvPr id="481" name="Text 479"/>
          <p:cNvSpPr/>
          <p:nvPr/>
        </p:nvSpPr>
        <p:spPr>
          <a:xfrm>
            <a:off x="21333409" y="8002524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Tier 3 – Threat Hunting &amp; Leadership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GCFA, CCIM</a:t>
            </a:r>
            <a:endParaRPr lang="en-US" sz="900" dirty="0"/>
          </a:p>
        </p:txBody>
      </p:sp>
      <p:sp>
        <p:nvSpPr>
          <p:cNvPr id="482" name="Text 480"/>
          <p:cNvSpPr/>
          <p:nvPr/>
        </p:nvSpPr>
        <p:spPr>
          <a:xfrm>
            <a:off x="21712465" y="874623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War Room  (Tabletop)</a:t>
            </a:r>
            <a:endParaRPr lang="en-US" sz="700" dirty="0"/>
          </a:p>
        </p:txBody>
      </p:sp>
      <p:sp>
        <p:nvSpPr>
          <p:cNvPr id="483" name="Text 481"/>
          <p:cNvSpPr/>
          <p:nvPr/>
        </p:nvSpPr>
        <p:spPr>
          <a:xfrm>
            <a:off x="21712465" y="9203436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Contribute to the development, maintenance and assessment of the Incident Response Plan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Establish procedures for incident results analysis and incident handling reporting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Cooperate with key personnel for reporting of security incidents according to applicable legal framework</a:t>
            </a:r>
            <a:endParaRPr lang="en-US" sz="750" dirty="0"/>
          </a:p>
        </p:txBody>
      </p:sp>
      <p:sp>
        <p:nvSpPr>
          <p:cNvPr id="484" name="Text 482"/>
          <p:cNvSpPr/>
          <p:nvPr/>
        </p:nvSpPr>
        <p:spPr>
          <a:xfrm>
            <a:off x="23596104" y="9203436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Work under pressure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Practice all technical, functional and operational aspects of cybersecurity incident handling and response</a:t>
            </a:r>
            <a:endParaRPr lang="en-US" sz="750" dirty="0"/>
          </a:p>
        </p:txBody>
      </p:sp>
      <p:sp>
        <p:nvSpPr>
          <p:cNvPr id="485" name="Text 483"/>
          <p:cNvSpPr/>
          <p:nvPr/>
        </p:nvSpPr>
        <p:spPr>
          <a:xfrm>
            <a:off x="25479744" y="9203436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Incident handling communication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Security Incident Response Teams (CSIRTs) operation</a:t>
            </a:r>
            <a:endParaRPr lang="en-US" sz="750" dirty="0"/>
          </a:p>
        </p:txBody>
      </p:sp>
      <p:sp>
        <p:nvSpPr>
          <p:cNvPr id="486" name="Text 484"/>
          <p:cNvSpPr/>
          <p:nvPr/>
        </p:nvSpPr>
        <p:spPr>
          <a:xfrm>
            <a:off x="28389834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EF6470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Cybersecurity Risk Manager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Enti certificatori: PECB, ISC2, ISACA</a:t>
            </a:r>
            <a:endParaRPr lang="en-US" sz="1100" dirty="0"/>
          </a:p>
        </p:txBody>
      </p:sp>
      <p:sp>
        <p:nvSpPr>
          <p:cNvPr id="487" name="Text 485"/>
          <p:cNvSpPr/>
          <p:nvPr/>
        </p:nvSpPr>
        <p:spPr>
          <a:xfrm>
            <a:off x="28255417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Information Security Risk Analyst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PECB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ISO/IEC 27005 Risk Manager</a:t>
            </a:r>
            <a:endParaRPr lang="en-US" sz="900" dirty="0"/>
          </a:p>
        </p:txBody>
      </p:sp>
      <p:sp>
        <p:nvSpPr>
          <p:cNvPr id="488" name="Text 486"/>
          <p:cNvSpPr/>
          <p:nvPr/>
        </p:nvSpPr>
        <p:spPr>
          <a:xfrm>
            <a:off x="28634473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Risk Register  (VM Lab)</a:t>
            </a:r>
            <a:endParaRPr lang="en-US" sz="700" dirty="0"/>
          </a:p>
        </p:txBody>
      </p:sp>
      <p:sp>
        <p:nvSpPr>
          <p:cNvPr id="489" name="Text 487"/>
          <p:cNvSpPr/>
          <p:nvPr/>
        </p:nvSpPr>
        <p:spPr>
          <a:xfrm>
            <a:off x="28634473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Manage an inventory of organisation's assets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assess cybersecurity-related threats and vulnerabilities of ICT systems</a:t>
            </a:r>
            <a:endParaRPr lang="en-US" sz="750" dirty="0"/>
          </a:p>
        </p:txBody>
      </p:sp>
      <p:sp>
        <p:nvSpPr>
          <p:cNvPr id="490" name="Text 488"/>
          <p:cNvSpPr/>
          <p:nvPr/>
        </p:nvSpPr>
        <p:spPr>
          <a:xfrm>
            <a:off x="30518112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Implement cybersecurity risk management frameworks, methodologies and guidelines and ensure compliance with regulations and standards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Analyse and consolidate organisation's quality and risk management practices</a:t>
            </a:r>
            <a:endParaRPr lang="en-US" sz="750" dirty="0"/>
          </a:p>
        </p:txBody>
      </p:sp>
      <p:sp>
        <p:nvSpPr>
          <p:cNvPr id="491" name="Text 489"/>
          <p:cNvSpPr/>
          <p:nvPr/>
        </p:nvSpPr>
        <p:spPr>
          <a:xfrm>
            <a:off x="32401752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Risk management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systems vulnerabilities</a:t>
            </a:r>
            <a:endParaRPr lang="en-US" sz="750" dirty="0"/>
          </a:p>
        </p:txBody>
      </p:sp>
      <p:sp>
        <p:nvSpPr>
          <p:cNvPr id="492" name="Text 490"/>
          <p:cNvSpPr/>
          <p:nvPr/>
        </p:nvSpPr>
        <p:spPr>
          <a:xfrm>
            <a:off x="28255417" y="5097272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Cybersecurity Risk Assessor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(ISC)²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CGRC</a:t>
            </a:r>
            <a:endParaRPr lang="en-US" sz="900" dirty="0"/>
          </a:p>
        </p:txBody>
      </p:sp>
      <p:sp>
        <p:nvSpPr>
          <p:cNvPr id="493" name="Text 491"/>
          <p:cNvSpPr/>
          <p:nvPr/>
        </p:nvSpPr>
        <p:spPr>
          <a:xfrm>
            <a:off x="28634473" y="584098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Authorization Package  (VM Lab)</a:t>
            </a:r>
            <a:endParaRPr lang="en-US" sz="700" dirty="0"/>
          </a:p>
        </p:txBody>
      </p:sp>
      <p:sp>
        <p:nvSpPr>
          <p:cNvPr id="494" name="Text 492"/>
          <p:cNvSpPr/>
          <p:nvPr/>
        </p:nvSpPr>
        <p:spPr>
          <a:xfrm>
            <a:off x="28634473" y="6298184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Assess cybersecurity risks and propose most appropriate risk treatment options, including security controls and risk mitigation and avoidance that best address the organisation's strategy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 effectiveness of cybersecurity controls and risk levels</a:t>
            </a:r>
            <a:endParaRPr lang="en-US" sz="750" dirty="0"/>
          </a:p>
        </p:txBody>
      </p:sp>
      <p:sp>
        <p:nvSpPr>
          <p:cNvPr id="495" name="Text 493"/>
          <p:cNvSpPr/>
          <p:nvPr/>
        </p:nvSpPr>
        <p:spPr>
          <a:xfrm>
            <a:off x="30518112" y="6298184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Enable business assets owners, executives and other stakeholders to make risk-informed decisions to manage and mitigate risks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</p:txBody>
      </p:sp>
      <p:sp>
        <p:nvSpPr>
          <p:cNvPr id="496" name="Text 494"/>
          <p:cNvSpPr/>
          <p:nvPr/>
        </p:nvSpPr>
        <p:spPr>
          <a:xfrm>
            <a:off x="32401752" y="6298184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controls and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Monitoring, testing and evaluating cybersecurity controls' effectiveness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risks</a:t>
            </a:r>
            <a:endParaRPr lang="en-US" sz="750" dirty="0"/>
          </a:p>
        </p:txBody>
      </p:sp>
      <p:sp>
        <p:nvSpPr>
          <p:cNvPr id="497" name="Text 495"/>
          <p:cNvSpPr/>
          <p:nvPr/>
        </p:nvSpPr>
        <p:spPr>
          <a:xfrm>
            <a:off x="28255417" y="7886954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Cyber Risk Manager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ISACA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CRISC</a:t>
            </a:r>
            <a:endParaRPr lang="en-US" sz="900" dirty="0"/>
          </a:p>
        </p:txBody>
      </p:sp>
      <p:sp>
        <p:nvSpPr>
          <p:cNvPr id="498" name="Text 496"/>
          <p:cNvSpPr/>
          <p:nvPr/>
        </p:nvSpPr>
        <p:spPr>
          <a:xfrm>
            <a:off x="28634473" y="863066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Risk Appetite Call  (Tabletop)</a:t>
            </a:r>
            <a:endParaRPr lang="en-US" sz="700" dirty="0"/>
          </a:p>
        </p:txBody>
      </p:sp>
      <p:sp>
        <p:nvSpPr>
          <p:cNvPr id="499" name="Text 497"/>
          <p:cNvSpPr/>
          <p:nvPr/>
        </p:nvSpPr>
        <p:spPr>
          <a:xfrm>
            <a:off x="28634473" y="908786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an organisation's cybersecurity risk management strategy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Ensure that all cybersecurity risks remain at an acceptable level for the organisation's assets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Develop, maintain, report and communicate complete risk management cycle</a:t>
            </a:r>
            <a:endParaRPr lang="en-US" sz="750" dirty="0"/>
          </a:p>
        </p:txBody>
      </p:sp>
      <p:sp>
        <p:nvSpPr>
          <p:cNvPr id="500" name="Text 498"/>
          <p:cNvSpPr/>
          <p:nvPr/>
        </p:nvSpPr>
        <p:spPr>
          <a:xfrm>
            <a:off x="30518112" y="908786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Propose and manage risk-sharing options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Build a cybersecurity risk-aware environment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</p:txBody>
      </p:sp>
      <p:sp>
        <p:nvSpPr>
          <p:cNvPr id="501" name="Text 499"/>
          <p:cNvSpPr/>
          <p:nvPr/>
        </p:nvSpPr>
        <p:spPr>
          <a:xfrm>
            <a:off x="32401752" y="908786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Risk management recommendations and best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technologies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Risk management tools</a:t>
            </a:r>
            <a:endParaRPr lang="en-US" sz="750" dirty="0"/>
          </a:p>
        </p:txBody>
      </p:sp>
      <p:sp>
        <p:nvSpPr>
          <p:cNvPr id="502" name="Text 500"/>
          <p:cNvSpPr/>
          <p:nvPr/>
        </p:nvSpPr>
        <p:spPr>
          <a:xfrm>
            <a:off x="35311842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EF6470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Penetration Tester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 certificatore: CREST</a:t>
            </a:r>
            <a:endParaRPr lang="en-US" sz="1100" dirty="0"/>
          </a:p>
        </p:txBody>
      </p:sp>
      <p:sp>
        <p:nvSpPr>
          <p:cNvPr id="503" name="Text 501"/>
          <p:cNvSpPr/>
          <p:nvPr/>
        </p:nvSpPr>
        <p:spPr>
          <a:xfrm>
            <a:off x="35177425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Vulnerability Analyst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INE (eLearnSecurity), CompTIA,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eJPT, PenTest+, CPSA</a:t>
            </a:r>
            <a:endParaRPr lang="en-US" sz="900" dirty="0"/>
          </a:p>
        </p:txBody>
      </p:sp>
      <p:sp>
        <p:nvSpPr>
          <p:cNvPr id="504" name="Text 502"/>
          <p:cNvSpPr/>
          <p:nvPr/>
        </p:nvSpPr>
        <p:spPr>
          <a:xfrm>
            <a:off x="35556481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First Contact  (VM Lab)</a:t>
            </a:r>
            <a:endParaRPr lang="en-US" sz="700" dirty="0"/>
          </a:p>
        </p:txBody>
      </p:sp>
      <p:sp>
        <p:nvSpPr>
          <p:cNvPr id="505" name="Text 503"/>
          <p:cNvSpPr/>
          <p:nvPr/>
        </p:nvSpPr>
        <p:spPr>
          <a:xfrm>
            <a:off x="35556481" y="3624072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analyse and assess technical and organisational cybersecurity vulnerabilities</a:t>
            </a:r>
            <a:endParaRPr lang="en-US" sz="750" dirty="0"/>
          </a:p>
        </p:txBody>
      </p:sp>
      <p:sp>
        <p:nvSpPr>
          <p:cNvPr id="506" name="Text 504"/>
          <p:cNvSpPr/>
          <p:nvPr/>
        </p:nvSpPr>
        <p:spPr>
          <a:xfrm>
            <a:off x="37440120" y="3624072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identify weaknesses and ineffective controls</a:t>
            </a:r>
            <a:endParaRPr lang="en-US" sz="750" dirty="0"/>
          </a:p>
        </p:txBody>
      </p:sp>
      <p:sp>
        <p:nvSpPr>
          <p:cNvPr id="507" name="Text 505"/>
          <p:cNvSpPr/>
          <p:nvPr/>
        </p:nvSpPr>
        <p:spPr>
          <a:xfrm>
            <a:off x="39323760" y="3624072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Operating systems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networks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systems vulnerabilities</a:t>
            </a:r>
            <a:endParaRPr lang="en-US" sz="750" dirty="0"/>
          </a:p>
        </p:txBody>
      </p:sp>
      <p:sp>
        <p:nvSpPr>
          <p:cNvPr id="508" name="Text 506"/>
          <p:cNvSpPr/>
          <p:nvPr/>
        </p:nvSpPr>
        <p:spPr>
          <a:xfrm>
            <a:off x="35556481" y="43606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By the Book  (VM Lab)</a:t>
            </a:r>
            <a:endParaRPr lang="en-US" sz="700" dirty="0"/>
          </a:p>
        </p:txBody>
      </p:sp>
      <p:sp>
        <p:nvSpPr>
          <p:cNvPr id="509" name="Text 507"/>
          <p:cNvSpPr/>
          <p:nvPr/>
        </p:nvSpPr>
        <p:spPr>
          <a:xfrm>
            <a:off x="35556481" y="4817872"/>
            <a:ext cx="1792200" cy="474726"/>
          </a:xfrm>
          <a:prstGeom prst="rect">
            <a:avLst>
              <a:gd name="adj" fmla="val 963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Test systems and operations compliance with regulatory standards</a:t>
            </a:r>
            <a:endParaRPr lang="en-US" sz="750" dirty="0"/>
          </a:p>
        </p:txBody>
      </p:sp>
      <p:sp>
        <p:nvSpPr>
          <p:cNvPr id="510" name="Text 508"/>
          <p:cNvSpPr/>
          <p:nvPr/>
        </p:nvSpPr>
        <p:spPr>
          <a:xfrm>
            <a:off x="37440120" y="4817872"/>
            <a:ext cx="1792200" cy="474726"/>
          </a:xfrm>
          <a:prstGeom prst="rect">
            <a:avLst>
              <a:gd name="adj" fmla="val 963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solve cybersecurity-related issues</a:t>
            </a:r>
            <a:endParaRPr lang="en-US" sz="750" dirty="0"/>
          </a:p>
        </p:txBody>
      </p:sp>
      <p:sp>
        <p:nvSpPr>
          <p:cNvPr id="511" name="Text 509"/>
          <p:cNvSpPr/>
          <p:nvPr/>
        </p:nvSpPr>
        <p:spPr>
          <a:xfrm>
            <a:off x="39323760" y="4817872"/>
            <a:ext cx="1792200" cy="474726"/>
          </a:xfrm>
          <a:prstGeom prst="rect">
            <a:avLst>
              <a:gd name="adj" fmla="val 963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recommendations and best practices</a:t>
            </a:r>
            <a:endParaRPr lang="en-US" sz="750" dirty="0"/>
          </a:p>
        </p:txBody>
      </p:sp>
      <p:sp>
        <p:nvSpPr>
          <p:cNvPr id="512" name="Text 510"/>
          <p:cNvSpPr/>
          <p:nvPr/>
        </p:nvSpPr>
        <p:spPr>
          <a:xfrm>
            <a:off x="35556481" y="543890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Toolbox  (VM Lab)</a:t>
            </a:r>
            <a:endParaRPr lang="en-US" sz="700" dirty="0"/>
          </a:p>
        </p:txBody>
      </p:sp>
      <p:sp>
        <p:nvSpPr>
          <p:cNvPr id="513" name="Text 511"/>
          <p:cNvSpPr/>
          <p:nvPr/>
        </p:nvSpPr>
        <p:spPr>
          <a:xfrm>
            <a:off x="35556481" y="5896102"/>
            <a:ext cx="1792200" cy="474726"/>
          </a:xfrm>
          <a:prstGeom prst="rect">
            <a:avLst>
              <a:gd name="adj" fmla="val 963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Deploy penetration testing tools and test programs</a:t>
            </a:r>
            <a:endParaRPr lang="en-US" sz="750" dirty="0"/>
          </a:p>
        </p:txBody>
      </p:sp>
      <p:sp>
        <p:nvSpPr>
          <p:cNvPr id="514" name="Text 512"/>
          <p:cNvSpPr/>
          <p:nvPr/>
        </p:nvSpPr>
        <p:spPr>
          <a:xfrm>
            <a:off x="37440120" y="5896102"/>
            <a:ext cx="1792200" cy="474726"/>
          </a:xfrm>
          <a:prstGeom prst="rect">
            <a:avLst>
              <a:gd name="adj" fmla="val 963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Use penetration testing tools effectively</a:t>
            </a:r>
            <a:endParaRPr lang="en-US" sz="750" dirty="0"/>
          </a:p>
        </p:txBody>
      </p:sp>
      <p:sp>
        <p:nvSpPr>
          <p:cNvPr id="515" name="Text 513"/>
          <p:cNvSpPr/>
          <p:nvPr/>
        </p:nvSpPr>
        <p:spPr>
          <a:xfrm>
            <a:off x="39323760" y="5896102"/>
            <a:ext cx="1792200" cy="474726"/>
          </a:xfrm>
          <a:prstGeom prst="rect">
            <a:avLst>
              <a:gd name="adj" fmla="val 9631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Penetration testing tools</a:t>
            </a:r>
            <a:endParaRPr lang="en-US" sz="750" dirty="0"/>
          </a:p>
        </p:txBody>
      </p:sp>
      <p:sp>
        <p:nvSpPr>
          <p:cNvPr id="516" name="Text 514"/>
          <p:cNvSpPr/>
          <p:nvPr/>
        </p:nvSpPr>
        <p:spPr>
          <a:xfrm>
            <a:off x="35177425" y="6791452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Penetration Tester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OffSec,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OSCP, CRT</a:t>
            </a:r>
            <a:endParaRPr lang="en-US" sz="900" dirty="0"/>
          </a:p>
        </p:txBody>
      </p:sp>
      <p:sp>
        <p:nvSpPr>
          <p:cNvPr id="517" name="Text 515"/>
          <p:cNvSpPr/>
          <p:nvPr/>
        </p:nvSpPr>
        <p:spPr>
          <a:xfrm>
            <a:off x="35455860" y="753516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F647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Web / API</a:t>
            </a:r>
            <a:endParaRPr lang="en-US" sz="650" dirty="0"/>
          </a:p>
        </p:txBody>
      </p:sp>
      <p:sp>
        <p:nvSpPr>
          <p:cNvPr id="518" name="Text 516"/>
          <p:cNvSpPr/>
          <p:nvPr/>
        </p:nvSpPr>
        <p:spPr>
          <a:xfrm>
            <a:off x="36918900" y="753516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F647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Infra / Active Directory</a:t>
            </a:r>
            <a:endParaRPr lang="en-US" sz="650" dirty="0"/>
          </a:p>
        </p:txBody>
      </p:sp>
      <p:sp>
        <p:nvSpPr>
          <p:cNvPr id="519" name="Text 517"/>
          <p:cNvSpPr/>
          <p:nvPr/>
        </p:nvSpPr>
        <p:spPr>
          <a:xfrm>
            <a:off x="38381940" y="753516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F647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Cloud</a:t>
            </a:r>
            <a:endParaRPr lang="en-US" sz="650" dirty="0"/>
          </a:p>
        </p:txBody>
      </p:sp>
      <p:sp>
        <p:nvSpPr>
          <p:cNvPr id="520" name="Text 518"/>
          <p:cNvSpPr/>
          <p:nvPr/>
        </p:nvSpPr>
        <p:spPr>
          <a:xfrm>
            <a:off x="39844980" y="753516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F647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OT / ICS</a:t>
            </a:r>
            <a:endParaRPr lang="en-US" sz="650" dirty="0"/>
          </a:p>
        </p:txBody>
      </p:sp>
      <p:sp>
        <p:nvSpPr>
          <p:cNvPr id="521" name="Text 519"/>
          <p:cNvSpPr/>
          <p:nvPr/>
        </p:nvSpPr>
        <p:spPr>
          <a:xfrm>
            <a:off x="35556481" y="804722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Breaking In  (VM Lab)</a:t>
            </a:r>
            <a:endParaRPr lang="en-US" sz="700" dirty="0"/>
          </a:p>
        </p:txBody>
      </p:sp>
      <p:sp>
        <p:nvSpPr>
          <p:cNvPr id="522" name="Text 520"/>
          <p:cNvSpPr/>
          <p:nvPr/>
        </p:nvSpPr>
        <p:spPr>
          <a:xfrm>
            <a:off x="35556481" y="850442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attack vectors, uncover and demonstrate exploitation of technical cybersecurity vulnerabilities</a:t>
            </a:r>
            <a:endParaRPr lang="en-US" sz="750" dirty="0"/>
          </a:p>
        </p:txBody>
      </p:sp>
      <p:sp>
        <p:nvSpPr>
          <p:cNvPr id="523" name="Text 521"/>
          <p:cNvSpPr/>
          <p:nvPr/>
        </p:nvSpPr>
        <p:spPr>
          <a:xfrm>
            <a:off x="37440120" y="850442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exploit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ethical hacking</a:t>
            </a:r>
            <a:endParaRPr lang="en-US" sz="750" dirty="0"/>
          </a:p>
        </p:txBody>
      </p:sp>
      <p:sp>
        <p:nvSpPr>
          <p:cNvPr id="524" name="Text 522"/>
          <p:cNvSpPr/>
          <p:nvPr/>
        </p:nvSpPr>
        <p:spPr>
          <a:xfrm>
            <a:off x="39323760" y="850442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attack procedures</a:t>
            </a:r>
            <a:endParaRPr lang="en-US" sz="750" dirty="0"/>
          </a:p>
        </p:txBody>
      </p:sp>
      <p:sp>
        <p:nvSpPr>
          <p:cNvPr id="525" name="Text 523"/>
          <p:cNvSpPr/>
          <p:nvPr/>
        </p:nvSpPr>
        <p:spPr>
          <a:xfrm>
            <a:off x="35556481" y="924102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Write Your Own Playbook  (VM Lab)</a:t>
            </a:r>
            <a:endParaRPr lang="en-US" sz="700" dirty="0"/>
          </a:p>
        </p:txBody>
      </p:sp>
      <p:sp>
        <p:nvSpPr>
          <p:cNvPr id="526" name="Text 524"/>
          <p:cNvSpPr/>
          <p:nvPr/>
        </p:nvSpPr>
        <p:spPr>
          <a:xfrm>
            <a:off x="35556481" y="9698228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Select and develop appropriate penetration testing techniques</a:t>
            </a:r>
            <a:endParaRPr lang="en-US" sz="750" dirty="0"/>
          </a:p>
        </p:txBody>
      </p:sp>
      <p:sp>
        <p:nvSpPr>
          <p:cNvPr id="527" name="Text 525"/>
          <p:cNvSpPr/>
          <p:nvPr/>
        </p:nvSpPr>
        <p:spPr>
          <a:xfrm>
            <a:off x="37440120" y="9698228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codes, scripts and programmes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Think creatively and outside the box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Review codes and assess their security</a:t>
            </a:r>
            <a:endParaRPr lang="en-US" sz="750" dirty="0"/>
          </a:p>
        </p:txBody>
      </p:sp>
      <p:sp>
        <p:nvSpPr>
          <p:cNvPr id="528" name="Text 526"/>
          <p:cNvSpPr/>
          <p:nvPr/>
        </p:nvSpPr>
        <p:spPr>
          <a:xfrm>
            <a:off x="39323760" y="9698228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Penetration testing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programming</a:t>
            </a:r>
            <a:endParaRPr lang="en-US" sz="750" dirty="0"/>
          </a:p>
        </p:txBody>
      </p:sp>
      <p:sp>
        <p:nvSpPr>
          <p:cNvPr id="529" name="Text 527"/>
          <p:cNvSpPr/>
          <p:nvPr/>
        </p:nvSpPr>
        <p:spPr>
          <a:xfrm>
            <a:off x="35556481" y="1078153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Engagement  (VM Lab)</a:t>
            </a:r>
            <a:endParaRPr lang="en-US" sz="700" dirty="0"/>
          </a:p>
        </p:txBody>
      </p:sp>
      <p:sp>
        <p:nvSpPr>
          <p:cNvPr id="530" name="Text 528"/>
          <p:cNvSpPr/>
          <p:nvPr/>
        </p:nvSpPr>
        <p:spPr>
          <a:xfrm>
            <a:off x="35556481" y="1123873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Organise test plans and procedures for penetration testing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Establish procedures for penetration testing result analysis and reporting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Document and report penetration testing results to stakeholders</a:t>
            </a:r>
            <a:endParaRPr lang="en-US" sz="750" dirty="0"/>
          </a:p>
        </p:txBody>
      </p:sp>
      <p:sp>
        <p:nvSpPr>
          <p:cNvPr id="531" name="Text 529"/>
          <p:cNvSpPr/>
          <p:nvPr/>
        </p:nvSpPr>
        <p:spPr>
          <a:xfrm>
            <a:off x="37440120" y="1123873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technical analysis and reporting</a:t>
            </a:r>
            <a:endParaRPr lang="en-US" sz="750" dirty="0"/>
          </a:p>
        </p:txBody>
      </p:sp>
      <p:sp>
        <p:nvSpPr>
          <p:cNvPr id="532" name="Text 530"/>
          <p:cNvSpPr/>
          <p:nvPr/>
        </p:nvSpPr>
        <p:spPr>
          <a:xfrm>
            <a:off x="39323760" y="1123873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Penetration testing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certifications</a:t>
            </a:r>
            <a:endParaRPr lang="en-US" sz="750" dirty="0"/>
          </a:p>
        </p:txBody>
      </p:sp>
      <p:sp>
        <p:nvSpPr>
          <p:cNvPr id="533" name="Text 531"/>
          <p:cNvSpPr/>
          <p:nvPr/>
        </p:nvSpPr>
        <p:spPr>
          <a:xfrm>
            <a:off x="35556481" y="1243761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[OT / ICS] Beyond IT  (VM Lab)</a:t>
            </a:r>
            <a:endParaRPr lang="en-US" sz="700" dirty="0"/>
          </a:p>
        </p:txBody>
      </p:sp>
      <p:sp>
        <p:nvSpPr>
          <p:cNvPr id="534" name="Text 532"/>
          <p:cNvSpPr/>
          <p:nvPr/>
        </p:nvSpPr>
        <p:spPr>
          <a:xfrm>
            <a:off x="35556481" y="1289481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Select and develop appropriate penetration testing techniques</a:t>
            </a:r>
            <a:endParaRPr lang="en-US" sz="750" dirty="0"/>
          </a:p>
        </p:txBody>
      </p:sp>
      <p:sp>
        <p:nvSpPr>
          <p:cNvPr id="535" name="Text 533"/>
          <p:cNvSpPr/>
          <p:nvPr/>
        </p:nvSpPr>
        <p:spPr>
          <a:xfrm>
            <a:off x="37440120" y="1289481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identify weaknesses and ineffective controls</a:t>
            </a:r>
            <a:endParaRPr lang="en-US" sz="750" dirty="0"/>
          </a:p>
        </p:txBody>
      </p:sp>
      <p:sp>
        <p:nvSpPr>
          <p:cNvPr id="536" name="Text 534"/>
          <p:cNvSpPr/>
          <p:nvPr/>
        </p:nvSpPr>
        <p:spPr>
          <a:xfrm>
            <a:off x="39323760" y="1289481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Information technology (IT) and operational technology (OT) appliances</a:t>
            </a:r>
            <a:endParaRPr lang="en-US" sz="750" dirty="0"/>
          </a:p>
        </p:txBody>
      </p:sp>
      <p:sp>
        <p:nvSpPr>
          <p:cNvPr id="537" name="Text 535"/>
          <p:cNvSpPr/>
          <p:nvPr/>
        </p:nvSpPr>
        <p:spPr>
          <a:xfrm>
            <a:off x="35556481" y="1363141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[Web / API] The Application Layer  (VM Lab)</a:t>
            </a:r>
            <a:endParaRPr lang="en-US" sz="700" dirty="0"/>
          </a:p>
        </p:txBody>
      </p:sp>
      <p:sp>
        <p:nvSpPr>
          <p:cNvPr id="538" name="Text 536"/>
          <p:cNvSpPr/>
          <p:nvPr/>
        </p:nvSpPr>
        <p:spPr>
          <a:xfrm>
            <a:off x="35556481" y="14088618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attack vectors, uncover and demonstrate exploitation of technical cybersecurity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Select and develop appropriate penetration testing techniques</a:t>
            </a:r>
            <a:endParaRPr lang="en-US" sz="750" dirty="0"/>
          </a:p>
        </p:txBody>
      </p:sp>
      <p:sp>
        <p:nvSpPr>
          <p:cNvPr id="539" name="Text 537"/>
          <p:cNvSpPr/>
          <p:nvPr/>
        </p:nvSpPr>
        <p:spPr>
          <a:xfrm>
            <a:off x="37440120" y="14088618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exploit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Review codes and assess their security</a:t>
            </a:r>
            <a:endParaRPr lang="en-US" sz="750" dirty="0"/>
          </a:p>
        </p:txBody>
      </p:sp>
      <p:sp>
        <p:nvSpPr>
          <p:cNvPr id="540" name="Text 538"/>
          <p:cNvSpPr/>
          <p:nvPr/>
        </p:nvSpPr>
        <p:spPr>
          <a:xfrm>
            <a:off x="39323760" y="14088618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systems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programming</a:t>
            </a:r>
            <a:endParaRPr lang="en-US" sz="750" dirty="0"/>
          </a:p>
        </p:txBody>
      </p:sp>
      <p:sp>
        <p:nvSpPr>
          <p:cNvPr id="541" name="Text 539"/>
          <p:cNvSpPr/>
          <p:nvPr/>
        </p:nvSpPr>
        <p:spPr>
          <a:xfrm>
            <a:off x="35556481" y="1505635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[Infra / Active Directory] Inside the Domain  (VM Lab)</a:t>
            </a:r>
            <a:endParaRPr lang="en-US" sz="700" dirty="0"/>
          </a:p>
        </p:txBody>
      </p:sp>
      <p:sp>
        <p:nvSpPr>
          <p:cNvPr id="542" name="Text 540"/>
          <p:cNvSpPr/>
          <p:nvPr/>
        </p:nvSpPr>
        <p:spPr>
          <a:xfrm>
            <a:off x="35556481" y="1551355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attack vectors, uncover and demonstrate exploitation of technical cybersecurity vulnerabilities</a:t>
            </a:r>
            <a:endParaRPr lang="en-US" sz="750" dirty="0"/>
          </a:p>
        </p:txBody>
      </p:sp>
      <p:sp>
        <p:nvSpPr>
          <p:cNvPr id="543" name="Text 541"/>
          <p:cNvSpPr/>
          <p:nvPr/>
        </p:nvSpPr>
        <p:spPr>
          <a:xfrm>
            <a:off x="37440120" y="1551355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exploit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ethical hacking</a:t>
            </a:r>
            <a:endParaRPr lang="en-US" sz="750" dirty="0"/>
          </a:p>
        </p:txBody>
      </p:sp>
      <p:sp>
        <p:nvSpPr>
          <p:cNvPr id="544" name="Text 542"/>
          <p:cNvSpPr/>
          <p:nvPr/>
        </p:nvSpPr>
        <p:spPr>
          <a:xfrm>
            <a:off x="39323760" y="15513558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Operating systems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networks security</a:t>
            </a:r>
            <a:endParaRPr lang="en-US" sz="750" dirty="0"/>
          </a:p>
        </p:txBody>
      </p:sp>
      <p:sp>
        <p:nvSpPr>
          <p:cNvPr id="545" name="Text 543"/>
          <p:cNvSpPr/>
          <p:nvPr/>
        </p:nvSpPr>
        <p:spPr>
          <a:xfrm>
            <a:off x="35556481" y="1625015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[Cloud] Someone Else's Computer  (VM Lab)</a:t>
            </a:r>
            <a:endParaRPr lang="en-US" sz="700" dirty="0"/>
          </a:p>
        </p:txBody>
      </p:sp>
      <p:sp>
        <p:nvSpPr>
          <p:cNvPr id="546" name="Text 544"/>
          <p:cNvSpPr/>
          <p:nvPr/>
        </p:nvSpPr>
        <p:spPr>
          <a:xfrm>
            <a:off x="35556481" y="16707358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analyse and assess technical and organisational cybersecurity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attack vectors, uncover and demonstrate exploitation of technical cybersecurity vulnerabilities</a:t>
            </a:r>
            <a:endParaRPr lang="en-US" sz="750" dirty="0"/>
          </a:p>
        </p:txBody>
      </p:sp>
      <p:sp>
        <p:nvSpPr>
          <p:cNvPr id="547" name="Text 545"/>
          <p:cNvSpPr/>
          <p:nvPr/>
        </p:nvSpPr>
        <p:spPr>
          <a:xfrm>
            <a:off x="37440120" y="16707358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exploit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identify weaknesses and ineffective controls</a:t>
            </a:r>
            <a:endParaRPr lang="en-US" sz="750" dirty="0"/>
          </a:p>
        </p:txBody>
      </p:sp>
      <p:sp>
        <p:nvSpPr>
          <p:cNvPr id="548" name="Text 546"/>
          <p:cNvSpPr/>
          <p:nvPr/>
        </p:nvSpPr>
        <p:spPr>
          <a:xfrm>
            <a:off x="39323760" y="16707358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systems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Offensive and defensive security procedures</a:t>
            </a:r>
            <a:endParaRPr lang="en-US" sz="750" dirty="0"/>
          </a:p>
        </p:txBody>
      </p:sp>
      <p:sp>
        <p:nvSpPr>
          <p:cNvPr id="549" name="Text 547"/>
          <p:cNvSpPr/>
          <p:nvPr/>
        </p:nvSpPr>
        <p:spPr>
          <a:xfrm>
            <a:off x="35177425" y="18064988"/>
            <a:ext cx="6317590" cy="579120"/>
          </a:xfrm>
          <a:prstGeom prst="rect">
            <a:avLst>
              <a:gd name="adj" fmla="val 7895"/>
            </a:avLst>
          </a:prstGeom>
          <a:solidFill>
            <a:srgbClr val="FDEBEC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Red Team Expert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Zero-Point Security,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CRTO, CRTL, CCSAS</a:t>
            </a:r>
            <a:endParaRPr lang="en-US" sz="900" dirty="0"/>
          </a:p>
        </p:txBody>
      </p:sp>
      <p:sp>
        <p:nvSpPr>
          <p:cNvPr id="550" name="Text 548"/>
          <p:cNvSpPr/>
          <p:nvPr/>
        </p:nvSpPr>
        <p:spPr>
          <a:xfrm>
            <a:off x="35556481" y="1880870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Long Game  (VM Lab)</a:t>
            </a:r>
            <a:endParaRPr lang="en-US" sz="700" dirty="0"/>
          </a:p>
        </p:txBody>
      </p:sp>
      <p:sp>
        <p:nvSpPr>
          <p:cNvPr id="551" name="Text 549"/>
          <p:cNvSpPr/>
          <p:nvPr/>
        </p:nvSpPr>
        <p:spPr>
          <a:xfrm>
            <a:off x="35556481" y="19265900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attack vectors, uncover and demonstrate exploitation of technical cybersecurity vulnerabilities</a:t>
            </a:r>
            <a:endParaRPr lang="en-US" sz="750" dirty="0"/>
          </a:p>
        </p:txBody>
      </p:sp>
      <p:sp>
        <p:nvSpPr>
          <p:cNvPr id="552" name="Text 550"/>
          <p:cNvSpPr/>
          <p:nvPr/>
        </p:nvSpPr>
        <p:spPr>
          <a:xfrm>
            <a:off x="37440120" y="19265900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exploit vulnerabilities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ethical hacking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Think creatively and outside the box</a:t>
            </a:r>
            <a:endParaRPr lang="en-US" sz="750" dirty="0"/>
          </a:p>
        </p:txBody>
      </p:sp>
      <p:sp>
        <p:nvSpPr>
          <p:cNvPr id="553" name="Text 551"/>
          <p:cNvSpPr/>
          <p:nvPr/>
        </p:nvSpPr>
        <p:spPr>
          <a:xfrm>
            <a:off x="39323760" y="19265900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Offensive and defensive security procedures</a:t>
            </a:r>
            <a:endParaRPr lang="en-US" sz="750" dirty="0"/>
          </a:p>
        </p:txBody>
      </p:sp>
      <p:sp>
        <p:nvSpPr>
          <p:cNvPr id="554" name="Text 552"/>
          <p:cNvSpPr/>
          <p:nvPr/>
        </p:nvSpPr>
        <p:spPr>
          <a:xfrm>
            <a:off x="35556481" y="2023364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Human Firewall  (VM Lab)</a:t>
            </a:r>
            <a:endParaRPr lang="en-US" sz="700" dirty="0"/>
          </a:p>
        </p:txBody>
      </p:sp>
      <p:sp>
        <p:nvSpPr>
          <p:cNvPr id="555" name="Text 553"/>
          <p:cNvSpPr/>
          <p:nvPr/>
        </p:nvSpPr>
        <p:spPr>
          <a:xfrm>
            <a:off x="35556481" y="20690840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attack vectors, uncover and demonstrate exploitation of technical cybersecurity vulnerabilities</a:t>
            </a:r>
            <a:endParaRPr lang="en-US" sz="750" dirty="0"/>
          </a:p>
        </p:txBody>
      </p:sp>
      <p:sp>
        <p:nvSpPr>
          <p:cNvPr id="556" name="Text 554"/>
          <p:cNvSpPr/>
          <p:nvPr/>
        </p:nvSpPr>
        <p:spPr>
          <a:xfrm>
            <a:off x="37440120" y="20690840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Perform social engineering</a:t>
            </a:r>
            <a:endParaRPr lang="en-US" sz="750" dirty="0"/>
          </a:p>
        </p:txBody>
      </p:sp>
      <p:sp>
        <p:nvSpPr>
          <p:cNvPr id="557" name="Text 555"/>
          <p:cNvSpPr/>
          <p:nvPr/>
        </p:nvSpPr>
        <p:spPr>
          <a:xfrm>
            <a:off x="39323760" y="20690840"/>
            <a:ext cx="1792200" cy="590296"/>
          </a:xfrm>
          <a:prstGeom prst="rect">
            <a:avLst>
              <a:gd name="adj" fmla="val 7745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attack procedures</a:t>
            </a:r>
            <a:endParaRPr lang="en-US" sz="750" dirty="0"/>
          </a:p>
        </p:txBody>
      </p:sp>
      <p:sp>
        <p:nvSpPr>
          <p:cNvPr id="558" name="Text 556"/>
          <p:cNvSpPr/>
          <p:nvPr/>
        </p:nvSpPr>
        <p:spPr>
          <a:xfrm>
            <a:off x="35556481" y="2142744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EF6470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Threat-Led  (VM Lab)</a:t>
            </a:r>
            <a:endParaRPr lang="en-US" sz="700" dirty="0"/>
          </a:p>
        </p:txBody>
      </p:sp>
      <p:sp>
        <p:nvSpPr>
          <p:cNvPr id="559" name="Text 557"/>
          <p:cNvSpPr/>
          <p:nvPr/>
        </p:nvSpPr>
        <p:spPr>
          <a:xfrm>
            <a:off x="35556481" y="21884640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Organise test plans and procedures for penetration testing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Establish procedures for penetration testing result analysis and reporting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Document and report penetration testing results to stakeholders</a:t>
            </a:r>
            <a:endParaRPr lang="en-US" sz="750" dirty="0"/>
          </a:p>
        </p:txBody>
      </p:sp>
      <p:sp>
        <p:nvSpPr>
          <p:cNvPr id="560" name="Text 558"/>
          <p:cNvSpPr/>
          <p:nvPr/>
        </p:nvSpPr>
        <p:spPr>
          <a:xfrm>
            <a:off x="37440120" y="21884640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technical analysis and reporting</a:t>
            </a:r>
            <a:endParaRPr lang="en-US" sz="750" dirty="0"/>
          </a:p>
        </p:txBody>
      </p:sp>
      <p:sp>
        <p:nvSpPr>
          <p:cNvPr id="561" name="Text 559"/>
          <p:cNvSpPr/>
          <p:nvPr/>
        </p:nvSpPr>
        <p:spPr>
          <a:xfrm>
            <a:off x="39323760" y="21884640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F6470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Offensive and defensive security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Penetration testing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certifications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4133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2A44"/>
                </a:solidFill>
              </a:rPr>
              <a:t>CPPT — ENISA/ECSF Framework Skeleton (2/2)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4133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B6680"/>
                </a:solidFill>
              </a:rPr>
              <a:t>Threat intel, audit &amp; forensics (amber) · Build &amp; research (green)  —  ogni figura: tier di carriera, certificazioni reali, task/skill/knowledge associati, laboratori e tabletop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726180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26180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26180" y="2258568"/>
            <a:ext cx="0" cy="16459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26180" y="3166872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26180" y="320344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26180" y="3203448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26180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42540" y="3550920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2540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26180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26180" y="3550920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26180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26180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26180" y="3550920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09820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26180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6180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26180" y="2258568"/>
            <a:ext cx="0" cy="31854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26180" y="6187694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26180" y="6224270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26180" y="6224270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6180" y="649859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42540" y="6571742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42540" y="657174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26180" y="649859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6180" y="6571742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6180" y="657174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6180" y="649859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6180" y="6571742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09820" y="657174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6180" y="7728204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6180" y="7764780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6180" y="7764780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26180" y="803910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42540" y="8112252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42540" y="811225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26180" y="803910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6180" y="8112252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26180" y="811225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726180" y="803910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6180" y="8112252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09820" y="811225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26180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726180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26180" y="2258568"/>
            <a:ext cx="0" cy="797788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6180" y="1098016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26180" y="1101674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26180" y="1101674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26180" y="1129106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842540" y="11364214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842540" y="1136421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26180" y="1129106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26180" y="11364214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26180" y="1136421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26180" y="1129106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26180" y="11364214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09820" y="1136421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648188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648188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48188" y="2258568"/>
            <a:ext cx="0" cy="16459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648188" y="3166872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48188" y="320344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648188" y="3203448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648188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64548" y="3550920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764548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648188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648188" y="3550920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648188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48188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648188" y="3550920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531828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648188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648188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648188" y="2258568"/>
            <a:ext cx="0" cy="283870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648188" y="5840984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48188" y="5877560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0648188" y="5877560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48188" y="615188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64548" y="6225032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764548" y="622503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648188" y="615188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0648188" y="6225032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648188" y="622503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648188" y="615188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0648188" y="6225032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2531828" y="622503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648188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648188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648188" y="2258568"/>
            <a:ext cx="0" cy="585952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648188" y="886180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648188" y="889838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648188" y="889838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648188" y="917270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764548" y="9245854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764548" y="924585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648188" y="917270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648188" y="9245854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648188" y="924585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648188" y="9172702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0648188" y="9245854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2531828" y="924585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7570196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7570196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7570196" y="2258568"/>
            <a:ext cx="0" cy="16459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7570196" y="3166872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7570196" y="320344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7570196" y="3203448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7570196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5686556" y="3550920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5686556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7570196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570196" y="3550920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7570196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7570196" y="34777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17570196" y="3550920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9453836" y="3550920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7570196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7570196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7570196" y="2258568"/>
            <a:ext cx="0" cy="260756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7570196" y="5445252"/>
            <a:ext cx="0" cy="8229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6838676" y="5527548"/>
            <a:ext cx="73152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6838676" y="5527548"/>
            <a:ext cx="0" cy="8229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7570196" y="5445252"/>
            <a:ext cx="0" cy="8229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7570196" y="5527548"/>
            <a:ext cx="73152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8301716" y="5527548"/>
            <a:ext cx="0" cy="8229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7570196" y="6121908"/>
            <a:ext cx="0" cy="36576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7570196" y="6158484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7570196" y="6158484"/>
            <a:ext cx="0" cy="914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7570196" y="643280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5686556" y="6505956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5686556" y="6505956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7570196" y="643280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7570196" y="6505956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7570196" y="6505956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570196" y="6432804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7570196" y="6505956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453836" y="6505956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17570196" y="2148840"/>
            <a:ext cx="0" cy="109728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7570196" y="22585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7570196" y="2258568"/>
            <a:ext cx="0" cy="579374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17570196" y="8796020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17570196" y="8832596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7570196" y="8832596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7570196" y="9106916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5686556" y="9180068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5686556" y="91800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7570196" y="9106916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7570196" y="9180068"/>
            <a:ext cx="914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7570196" y="91800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7570196" y="9106916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7570196" y="9180068"/>
            <a:ext cx="1883640" cy="0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9453836" y="9180068"/>
            <a:ext cx="0" cy="73152"/>
          </a:xfrm>
          <a:prstGeom prst="line">
            <a:avLst/>
          </a:prstGeom>
          <a:noFill/>
          <a:ln w="12700">
            <a:solidFill>
              <a:srgbClr val="F0AB4D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24492204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4492204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24492204" y="2258568"/>
            <a:ext cx="0" cy="16459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24492204" y="3166872"/>
            <a:ext cx="0" cy="3657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4492204" y="320344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4492204" y="3203448"/>
            <a:ext cx="0" cy="9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4492204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2608564" y="3550920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22608564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4492204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24492204" y="3550920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4492204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24492204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4492204" y="3550920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26375844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24492204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4492204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492204" y="2258568"/>
            <a:ext cx="0" cy="272313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4492204" y="5725414"/>
            <a:ext cx="0" cy="3657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4492204" y="5761990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4492204" y="5761990"/>
            <a:ext cx="0" cy="9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492204" y="603631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2608564" y="6109462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22608564" y="610946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4492204" y="603631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24492204" y="6109462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492204" y="610946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4492204" y="603631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4492204" y="6109462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6375844" y="610946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24492204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4492204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24492204" y="2258568"/>
            <a:ext cx="0" cy="551281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24492204" y="851509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24492204" y="855167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24492204" y="855167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24492204" y="882599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2608564" y="8899144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22608564" y="889914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4492204" y="882599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4492204" y="8899144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4492204" y="889914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4492204" y="882599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4492204" y="8899144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6375844" y="889914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1414212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1414212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1414212" y="2258568"/>
            <a:ext cx="0" cy="16459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31414212" y="3166872"/>
            <a:ext cx="0" cy="3657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31414212" y="320344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31414212" y="3203448"/>
            <a:ext cx="0" cy="9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1414212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9530572" y="3550920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29530572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1414212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31414212" y="3550920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1414212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1414212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1414212" y="3550920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33297852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31414212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31414212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1414212" y="2258568"/>
            <a:ext cx="0" cy="283870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1414212" y="5676392"/>
            <a:ext cx="0" cy="8229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0682692" y="5758688"/>
            <a:ext cx="73152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0682692" y="5758688"/>
            <a:ext cx="0" cy="8229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31414212" y="5676392"/>
            <a:ext cx="0" cy="8229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1414212" y="5758688"/>
            <a:ext cx="73152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2145732" y="5758688"/>
            <a:ext cx="0" cy="8229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1414212" y="6353048"/>
            <a:ext cx="0" cy="3657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1414212" y="6389624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1414212" y="6389624"/>
            <a:ext cx="0" cy="9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1414212" y="666394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9530572" y="6737096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9530572" y="6737096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1414212" y="666394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31414212" y="6737096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31414212" y="6737096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1414212" y="666394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1414212" y="6737096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3297852" y="6737096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1414212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1414212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1414212" y="2258568"/>
            <a:ext cx="0" cy="648716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31414212" y="9489440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1414212" y="9526016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1414212" y="9526016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1414212" y="9800336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9530572" y="9873488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9530572" y="987348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31414212" y="9800336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1414212" y="987348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1414212" y="987348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1414212" y="9800336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1414212" y="9873488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3297852" y="987348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8336220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38336220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38336220" y="2258568"/>
            <a:ext cx="0" cy="16459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38336220" y="3166872"/>
            <a:ext cx="0" cy="3657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38336220" y="320344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38336220" y="3203448"/>
            <a:ext cx="0" cy="9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38336220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36452580" y="3550920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36452580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38336220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38336220" y="3550920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38336220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38336220" y="3477768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38336220" y="3550920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40219860" y="355092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38336220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8336220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38336220" y="2258568"/>
            <a:ext cx="0" cy="31854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38336220" y="6187694"/>
            <a:ext cx="0" cy="3657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38336220" y="6224270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38336220" y="6224270"/>
            <a:ext cx="0" cy="914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8336220" y="649859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6452580" y="6571742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6452580" y="657174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38336220" y="649859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8336220" y="6571742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8336220" y="657174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38336220" y="6498590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38336220" y="6571742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0219860" y="657174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38336220" y="2148840"/>
            <a:ext cx="0" cy="109728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8336220" y="2258568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8336220" y="2258568"/>
            <a:ext cx="0" cy="6090666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8336220" y="9092946"/>
            <a:ext cx="0" cy="36576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38336220" y="9129522"/>
            <a:ext cx="914" cy="0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38336220" y="9129522"/>
            <a:ext cx="0" cy="914"/>
          </a:xfrm>
          <a:prstGeom prst="line">
            <a:avLst/>
          </a:prstGeom>
          <a:noFill/>
          <a:ln w="12700">
            <a:solidFill>
              <a:srgbClr val="5B668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38336220" y="940384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6452580" y="9476994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36452580" y="947699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38336220" y="940384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38336220" y="9476994"/>
            <a:ext cx="914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38336220" y="947699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38336220" y="9403842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38336220" y="9476994"/>
            <a:ext cx="1883640" cy="0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40219860" y="9476994"/>
            <a:ext cx="0" cy="73152"/>
          </a:xfrm>
          <a:prstGeom prst="line">
            <a:avLst/>
          </a:prstGeom>
          <a:noFill/>
          <a:ln w="12700">
            <a:solidFill>
              <a:srgbClr val="57C495"/>
            </a:solidFill>
            <a:prstDash val="solid"/>
          </a:ln>
        </p:spPr>
      </p:sp>
      <p:sp>
        <p:nvSpPr>
          <p:cNvPr id="298" name="Text 296"/>
          <p:cNvSpPr/>
          <p:nvPr/>
        </p:nvSpPr>
        <p:spPr>
          <a:xfrm>
            <a:off x="701802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F0AB4D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 Threat Intelligence Specialist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 certificatore: CREST</a:t>
            </a:r>
            <a:endParaRPr lang="en-US" sz="1100" dirty="0"/>
          </a:p>
        </p:txBody>
      </p:sp>
      <p:sp>
        <p:nvSpPr>
          <p:cNvPr id="299" name="Text 297"/>
          <p:cNvSpPr/>
          <p:nvPr/>
        </p:nvSpPr>
        <p:spPr>
          <a:xfrm>
            <a:off x="567385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Tactical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EC-Council,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C|TIA, CPTIA</a:t>
            </a:r>
            <a:endParaRPr lang="en-US" sz="900" dirty="0"/>
          </a:p>
        </p:txBody>
      </p:sp>
      <p:sp>
        <p:nvSpPr>
          <p:cNvPr id="300" name="Text 298"/>
          <p:cNvSpPr/>
          <p:nvPr/>
        </p:nvSpPr>
        <p:spPr>
          <a:xfrm>
            <a:off x="946441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Signal in the Noise  (VM Lab)</a:t>
            </a:r>
            <a:endParaRPr lang="en-US" sz="700" dirty="0"/>
          </a:p>
        </p:txBody>
      </p:sp>
      <p:sp>
        <p:nvSpPr>
          <p:cNvPr id="301" name="Text 299"/>
          <p:cNvSpPr/>
          <p:nvPr/>
        </p:nvSpPr>
        <p:spPr>
          <a:xfrm>
            <a:off x="946441" y="3624072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Implement threat intelligence collection, analysis and production of actionable intelligence and dissemination to security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monitor and assess the Tactics, Techniques and Procedures (TTPs) used by cyber threat actors by analysing open-source and proprietary data, information and intelligence</a:t>
            </a:r>
            <a:endParaRPr lang="en-US" sz="750" dirty="0"/>
          </a:p>
        </p:txBody>
      </p:sp>
      <p:sp>
        <p:nvSpPr>
          <p:cNvPr id="302" name="Text 300"/>
          <p:cNvSpPr/>
          <p:nvPr/>
        </p:nvSpPr>
        <p:spPr>
          <a:xfrm>
            <a:off x="2830080" y="3624072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Collect, analyse and correlate cyber threat information originating from multiple sources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Use and apply CTI platforms and tools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Automate threat intelligence management procedures</a:t>
            </a:r>
            <a:endParaRPr lang="en-US" sz="750" dirty="0"/>
          </a:p>
        </p:txBody>
      </p:sp>
      <p:sp>
        <p:nvSpPr>
          <p:cNvPr id="303" name="Text 301"/>
          <p:cNvSpPr/>
          <p:nvPr/>
        </p:nvSpPr>
        <p:spPr>
          <a:xfrm>
            <a:off x="4713720" y="3624072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 threats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 threat actors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Operating systems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networks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Computer programming</a:t>
            </a:r>
            <a:endParaRPr lang="en-US" sz="750" dirty="0"/>
          </a:p>
        </p:txBody>
      </p:sp>
      <p:sp>
        <p:nvSpPr>
          <p:cNvPr id="304" name="Text 302"/>
          <p:cNvSpPr/>
          <p:nvPr/>
        </p:nvSpPr>
        <p:spPr>
          <a:xfrm>
            <a:off x="567385" y="5443982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Operational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GCTI, CRTIA</a:t>
            </a:r>
            <a:endParaRPr lang="en-US" sz="900" dirty="0"/>
          </a:p>
        </p:txBody>
      </p:sp>
      <p:sp>
        <p:nvSpPr>
          <p:cNvPr id="305" name="Text 303"/>
          <p:cNvSpPr/>
          <p:nvPr/>
        </p:nvSpPr>
        <p:spPr>
          <a:xfrm>
            <a:off x="946441" y="618769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Map the Adversary  (VM Lab)</a:t>
            </a:r>
            <a:endParaRPr lang="en-US" sz="700" dirty="0"/>
          </a:p>
        </p:txBody>
      </p:sp>
      <p:sp>
        <p:nvSpPr>
          <p:cNvPr id="306" name="Text 304"/>
          <p:cNvSpPr/>
          <p:nvPr/>
        </p:nvSpPr>
        <p:spPr>
          <a:xfrm>
            <a:off x="946441" y="6644894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assess cyber threat actors targeting the organisation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Leverage intelligence data to support and assist with threat modelling, recommendations for Risk Mitigation and cyber threat hunting</a:t>
            </a:r>
            <a:endParaRPr lang="en-US" sz="750" dirty="0"/>
          </a:p>
        </p:txBody>
      </p:sp>
      <p:sp>
        <p:nvSpPr>
          <p:cNvPr id="307" name="Text 305"/>
          <p:cNvSpPr/>
          <p:nvPr/>
        </p:nvSpPr>
        <p:spPr>
          <a:xfrm>
            <a:off x="2830080" y="6644894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threat actors TTPs and campaigns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Model threats, actors and TTPs</a:t>
            </a:r>
            <a:endParaRPr lang="en-US" sz="750" dirty="0"/>
          </a:p>
        </p:txBody>
      </p:sp>
      <p:sp>
        <p:nvSpPr>
          <p:cNvPr id="308" name="Text 306"/>
          <p:cNvSpPr/>
          <p:nvPr/>
        </p:nvSpPr>
        <p:spPr>
          <a:xfrm>
            <a:off x="4713720" y="6644894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attack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Advanced and persistent cyber threats (APT)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Threat actors Tactics, Techniques and Procedures (TTPs)</a:t>
            </a:r>
            <a:endParaRPr lang="en-US" sz="750" dirty="0"/>
          </a:p>
        </p:txBody>
      </p:sp>
      <p:sp>
        <p:nvSpPr>
          <p:cNvPr id="309" name="Text 307"/>
          <p:cNvSpPr/>
          <p:nvPr/>
        </p:nvSpPr>
        <p:spPr>
          <a:xfrm>
            <a:off x="946441" y="772820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From Data to Decision  (VM Lab)</a:t>
            </a:r>
            <a:endParaRPr lang="en-US" sz="700" dirty="0"/>
          </a:p>
        </p:txBody>
      </p:sp>
      <p:sp>
        <p:nvSpPr>
          <p:cNvPr id="310" name="Text 308"/>
          <p:cNvSpPr/>
          <p:nvPr/>
        </p:nvSpPr>
        <p:spPr>
          <a:xfrm>
            <a:off x="946441" y="8185404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Produce actionable reports based on threat intelligence data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Coordinate with stakeholders to share and consume intelligence on relevant cyber threats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Articulate and communicate intelligence openly and publicly at all levels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Convey the proper security severity by explaining the risk exposure and its consequences to non-technical stakeholders</a:t>
            </a:r>
            <a:endParaRPr lang="en-US" sz="750" dirty="0"/>
          </a:p>
        </p:txBody>
      </p:sp>
      <p:sp>
        <p:nvSpPr>
          <p:cNvPr id="311" name="Text 309"/>
          <p:cNvSpPr/>
          <p:nvPr/>
        </p:nvSpPr>
        <p:spPr>
          <a:xfrm>
            <a:off x="2830080" y="8185404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technical analysis and reporting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</p:txBody>
      </p:sp>
      <p:sp>
        <p:nvSpPr>
          <p:cNvPr id="312" name="Text 310"/>
          <p:cNvSpPr/>
          <p:nvPr/>
        </p:nvSpPr>
        <p:spPr>
          <a:xfrm>
            <a:off x="4713720" y="8185404"/>
            <a:ext cx="1792200" cy="1630426"/>
          </a:xfrm>
          <a:prstGeom prst="rect">
            <a:avLst>
              <a:gd name="adj" fmla="val 280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 Threat Intelligence (CTI) sharing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Responsible information disclosure procedures</a:t>
            </a:r>
            <a:endParaRPr lang="en-US" sz="750" dirty="0"/>
          </a:p>
        </p:txBody>
      </p:sp>
      <p:sp>
        <p:nvSpPr>
          <p:cNvPr id="313" name="Text 311"/>
          <p:cNvSpPr/>
          <p:nvPr/>
        </p:nvSpPr>
        <p:spPr>
          <a:xfrm>
            <a:off x="567385" y="10236454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Strategic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GIAC, CREST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GCTI, CCTIM</a:t>
            </a:r>
            <a:endParaRPr lang="en-US" sz="900" dirty="0"/>
          </a:p>
        </p:txBody>
      </p:sp>
      <p:sp>
        <p:nvSpPr>
          <p:cNvPr id="314" name="Text 312"/>
          <p:cNvSpPr/>
          <p:nvPr/>
        </p:nvSpPr>
        <p:spPr>
          <a:xfrm>
            <a:off x="946441" y="1098016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Intelligence Requirement  (Tabletop)</a:t>
            </a:r>
            <a:endParaRPr lang="en-US" sz="700" dirty="0"/>
          </a:p>
        </p:txBody>
      </p:sp>
      <p:sp>
        <p:nvSpPr>
          <p:cNvPr id="315" name="Text 313"/>
          <p:cNvSpPr/>
          <p:nvPr/>
        </p:nvSpPr>
        <p:spPr>
          <a:xfrm>
            <a:off x="946441" y="11437366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Develop, implement and manage the organisation's cyber threat intelligence strategy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plans and procedures to manage threat intelligence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Translate business requirements into Intelligence Requirements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Elaborate and advise on mitigation plans at the tactical, operational and strategic level</a:t>
            </a:r>
            <a:endParaRPr lang="en-US" sz="750" dirty="0"/>
          </a:p>
        </p:txBody>
      </p:sp>
      <p:sp>
        <p:nvSpPr>
          <p:cNvPr id="316" name="Text 314"/>
          <p:cNvSpPr/>
          <p:nvPr/>
        </p:nvSpPr>
        <p:spPr>
          <a:xfrm>
            <a:off x="2830080" y="11437366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Collaborate with other team members and colleagues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coordinate and cooperate with internal and external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non-cyber events with implications on cyber-related activities</a:t>
            </a:r>
            <a:endParaRPr lang="en-US" sz="750" dirty="0"/>
          </a:p>
        </p:txBody>
      </p:sp>
      <p:sp>
        <p:nvSpPr>
          <p:cNvPr id="317" name="Text 315"/>
          <p:cNvSpPr/>
          <p:nvPr/>
        </p:nvSpPr>
        <p:spPr>
          <a:xfrm>
            <a:off x="4713720" y="11437366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Cross-domain and border-domain knowledge related to cybersecurity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controls and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certifications</a:t>
            </a:r>
            <a:endParaRPr lang="en-US" sz="750" dirty="0"/>
          </a:p>
        </p:txBody>
      </p:sp>
      <p:sp>
        <p:nvSpPr>
          <p:cNvPr id="318" name="Text 316"/>
          <p:cNvSpPr/>
          <p:nvPr/>
        </p:nvSpPr>
        <p:spPr>
          <a:xfrm>
            <a:off x="7623810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F0AB4D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Cybersecurity Auditor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 certificatore: CQI/IRCA</a:t>
            </a:r>
            <a:endParaRPr lang="en-US" sz="1100" dirty="0"/>
          </a:p>
        </p:txBody>
      </p:sp>
      <p:sp>
        <p:nvSpPr>
          <p:cNvPr id="319" name="Text 317"/>
          <p:cNvSpPr/>
          <p:nvPr/>
        </p:nvSpPr>
        <p:spPr>
          <a:xfrm>
            <a:off x="7489393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Associate Auditor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ISACA, CQI/IRCA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IT Audit Fundamentals Certificate, Associate Auditor</a:t>
            </a:r>
            <a:endParaRPr lang="en-US" sz="900" dirty="0"/>
          </a:p>
        </p:txBody>
      </p:sp>
      <p:sp>
        <p:nvSpPr>
          <p:cNvPr id="320" name="Text 318"/>
          <p:cNvSpPr/>
          <p:nvPr/>
        </p:nvSpPr>
        <p:spPr>
          <a:xfrm>
            <a:off x="7868449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Evidence Trail  (VM Lab)</a:t>
            </a:r>
            <a:endParaRPr lang="en-US" sz="700" dirty="0"/>
          </a:p>
        </p:txBody>
      </p:sp>
      <p:sp>
        <p:nvSpPr>
          <p:cNvPr id="321" name="Text 319"/>
          <p:cNvSpPr/>
          <p:nvPr/>
        </p:nvSpPr>
        <p:spPr>
          <a:xfrm>
            <a:off x="7868449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Execute the audit plan and collect evidence and measurements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Maintain and protect the integrity of audit records</a:t>
            </a:r>
            <a:endParaRPr lang="en-US" sz="750" dirty="0"/>
          </a:p>
        </p:txBody>
      </p:sp>
      <p:sp>
        <p:nvSpPr>
          <p:cNvPr id="322" name="Text 320"/>
          <p:cNvSpPr/>
          <p:nvPr/>
        </p:nvSpPr>
        <p:spPr>
          <a:xfrm>
            <a:off x="9752088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Organise and work in a systematic and deterministic way based on evidence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Collect, evaluate, maintain and protect auditing information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Follow and practice auditing frameworks, standards and methodologies</a:t>
            </a:r>
            <a:endParaRPr lang="en-US" sz="750" dirty="0"/>
          </a:p>
        </p:txBody>
      </p:sp>
      <p:sp>
        <p:nvSpPr>
          <p:cNvPr id="323" name="Text 321"/>
          <p:cNvSpPr/>
          <p:nvPr/>
        </p:nvSpPr>
        <p:spPr>
          <a:xfrm>
            <a:off x="11635728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Auditing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controls and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Monitoring, testing and evaluating cybersecurity controls' effectiveness</a:t>
            </a:r>
            <a:endParaRPr lang="en-US" sz="750" dirty="0"/>
          </a:p>
        </p:txBody>
      </p:sp>
      <p:sp>
        <p:nvSpPr>
          <p:cNvPr id="324" name="Text 322"/>
          <p:cNvSpPr/>
          <p:nvPr/>
        </p:nvSpPr>
        <p:spPr>
          <a:xfrm>
            <a:off x="7489393" y="5097272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Lead Auditor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ISACA, CQI/IRCA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CISA, Lead Auditor</a:t>
            </a:r>
            <a:endParaRPr lang="en-US" sz="900" dirty="0"/>
          </a:p>
        </p:txBody>
      </p:sp>
      <p:sp>
        <p:nvSpPr>
          <p:cNvPr id="325" name="Text 323"/>
          <p:cNvSpPr/>
          <p:nvPr/>
        </p:nvSpPr>
        <p:spPr>
          <a:xfrm>
            <a:off x="7868449" y="584098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Surveillance Audit  (VM Lab)</a:t>
            </a:r>
            <a:endParaRPr lang="en-US" sz="700" dirty="0"/>
          </a:p>
        </p:txBody>
      </p:sp>
      <p:sp>
        <p:nvSpPr>
          <p:cNvPr id="326" name="Text 324"/>
          <p:cNvSpPr/>
          <p:nvPr/>
        </p:nvSpPr>
        <p:spPr>
          <a:xfrm>
            <a:off x="7868449" y="6298184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Define audit scope, objectives and criteria to audit against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an audit plan describing the frameworks, standards, methodology, procedures and auditing tests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and communicate conformity assessment, assurance, audit, certification and maintenance reports</a:t>
            </a:r>
            <a:endParaRPr lang="en-US" sz="750" dirty="0"/>
          </a:p>
        </p:txBody>
      </p:sp>
      <p:sp>
        <p:nvSpPr>
          <p:cNvPr id="327" name="Text 325"/>
          <p:cNvSpPr/>
          <p:nvPr/>
        </p:nvSpPr>
        <p:spPr>
          <a:xfrm>
            <a:off x="9752088" y="6298184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Analyse business processes, assess and review software or hardware security, as well as technical and organisational controls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identify weaknesses and ineffective controls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explain and adapt legal and regulatory requirements and business needs</a:t>
            </a:r>
            <a:endParaRPr lang="en-US" sz="750" dirty="0"/>
          </a:p>
        </p:txBody>
      </p:sp>
      <p:sp>
        <p:nvSpPr>
          <p:cNvPr id="328" name="Text 326"/>
          <p:cNvSpPr/>
          <p:nvPr/>
        </p:nvSpPr>
        <p:spPr>
          <a:xfrm>
            <a:off x="11635728" y="6298184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Conformity assessment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Legal, regulatory and legislative compliance requirements, recommendations and best practices</a:t>
            </a:r>
            <a:endParaRPr lang="en-US" sz="750" dirty="0"/>
          </a:p>
        </p:txBody>
      </p:sp>
      <p:sp>
        <p:nvSpPr>
          <p:cNvPr id="329" name="Text 327"/>
          <p:cNvSpPr/>
          <p:nvPr/>
        </p:nvSpPr>
        <p:spPr>
          <a:xfrm>
            <a:off x="7489393" y="8118094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Principal Auditor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ISACA, CQI/IRCA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CISA, Principal Auditor</a:t>
            </a:r>
            <a:endParaRPr lang="en-US" sz="900" dirty="0"/>
          </a:p>
        </p:txBody>
      </p:sp>
      <p:sp>
        <p:nvSpPr>
          <p:cNvPr id="330" name="Text 328"/>
          <p:cNvSpPr/>
          <p:nvPr/>
        </p:nvSpPr>
        <p:spPr>
          <a:xfrm>
            <a:off x="7868449" y="886180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Audit Committee  (Tabletop)</a:t>
            </a:r>
            <a:endParaRPr lang="en-US" sz="700" dirty="0"/>
          </a:p>
        </p:txBody>
      </p:sp>
      <p:sp>
        <p:nvSpPr>
          <p:cNvPr id="331" name="Text 329"/>
          <p:cNvSpPr/>
          <p:nvPr/>
        </p:nvSpPr>
        <p:spPr>
          <a:xfrm>
            <a:off x="7868449" y="931900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the organisation's auditing policy, procedures, standards and guidelines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Establish the methodologies and practices used for systems auditing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 risk remediation activities</a:t>
            </a:r>
            <a:endParaRPr lang="en-US" sz="750" dirty="0"/>
          </a:p>
        </p:txBody>
      </p:sp>
      <p:sp>
        <p:nvSpPr>
          <p:cNvPr id="332" name="Text 330"/>
          <p:cNvSpPr/>
          <p:nvPr/>
        </p:nvSpPr>
        <p:spPr>
          <a:xfrm>
            <a:off x="9752088" y="931900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Audit with integrity, being impartial and independent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explain and adapt legal and regulatory requirements and business needs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Organise and work in a systematic and deterministic way based on evidence</a:t>
            </a:r>
            <a:endParaRPr lang="en-US" sz="750" dirty="0"/>
          </a:p>
        </p:txBody>
      </p:sp>
      <p:sp>
        <p:nvSpPr>
          <p:cNvPr id="333" name="Text 331"/>
          <p:cNvSpPr/>
          <p:nvPr/>
        </p:nvSpPr>
        <p:spPr>
          <a:xfrm>
            <a:off x="11635728" y="931900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Auditing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Auditing-related certification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Legal, regulatory and legislative compliance requirements, recommendations and best practices</a:t>
            </a:r>
            <a:endParaRPr lang="en-US" sz="750" dirty="0"/>
          </a:p>
        </p:txBody>
      </p:sp>
      <p:sp>
        <p:nvSpPr>
          <p:cNvPr id="334" name="Text 332"/>
          <p:cNvSpPr/>
          <p:nvPr/>
        </p:nvSpPr>
        <p:spPr>
          <a:xfrm>
            <a:off x="14545818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F0AB4D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Digital Forensics Investigator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Enti certificatori: EC-Council, GIAC, IACIS</a:t>
            </a:r>
            <a:endParaRPr lang="en-US" sz="1100" dirty="0"/>
          </a:p>
        </p:txBody>
      </p:sp>
      <p:sp>
        <p:nvSpPr>
          <p:cNvPr id="335" name="Text 333"/>
          <p:cNvSpPr/>
          <p:nvPr/>
        </p:nvSpPr>
        <p:spPr>
          <a:xfrm>
            <a:off x="14411401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Associate Forensic Examiner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EC-Council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CHFI</a:t>
            </a:r>
            <a:endParaRPr lang="en-US" sz="900" dirty="0"/>
          </a:p>
        </p:txBody>
      </p:sp>
      <p:sp>
        <p:nvSpPr>
          <p:cNvPr id="336" name="Text 334"/>
          <p:cNvSpPr/>
          <p:nvPr/>
        </p:nvSpPr>
        <p:spPr>
          <a:xfrm>
            <a:off x="14790457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Chain of Custody  (VM Lab)</a:t>
            </a:r>
            <a:endParaRPr lang="en-US" sz="700" dirty="0"/>
          </a:p>
        </p:txBody>
      </p:sp>
      <p:sp>
        <p:nvSpPr>
          <p:cNvPr id="337" name="Text 335"/>
          <p:cNvSpPr/>
          <p:nvPr/>
        </p:nvSpPr>
        <p:spPr>
          <a:xfrm>
            <a:off x="14790457" y="3624072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Preserve and protect digital evidence and make it available to authorised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recover, extract, document and analyse digital evidence</a:t>
            </a:r>
            <a:endParaRPr lang="en-US" sz="750" dirty="0"/>
          </a:p>
        </p:txBody>
      </p:sp>
      <p:sp>
        <p:nvSpPr>
          <p:cNvPr id="338" name="Text 336"/>
          <p:cNvSpPr/>
          <p:nvPr/>
        </p:nvSpPr>
        <p:spPr>
          <a:xfrm>
            <a:off x="16674096" y="3624072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Collect information while preserving its integrity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Work ethically and independently; not influenced and biased by internal or external actors</a:t>
            </a:r>
            <a:endParaRPr lang="en-US" sz="750" dirty="0"/>
          </a:p>
        </p:txBody>
      </p:sp>
      <p:sp>
        <p:nvSpPr>
          <p:cNvPr id="339" name="Text 337"/>
          <p:cNvSpPr/>
          <p:nvPr/>
        </p:nvSpPr>
        <p:spPr>
          <a:xfrm>
            <a:off x="18557736" y="3624072"/>
            <a:ext cx="1792200" cy="821436"/>
          </a:xfrm>
          <a:prstGeom prst="rect">
            <a:avLst>
              <a:gd name="adj" fmla="val 5566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Digital forensics recommendations and best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Digital forensics standards, methodologies and frameworks</a:t>
            </a:r>
            <a:endParaRPr lang="en-US" sz="750" dirty="0"/>
          </a:p>
        </p:txBody>
      </p:sp>
      <p:sp>
        <p:nvSpPr>
          <p:cNvPr id="340" name="Text 338"/>
          <p:cNvSpPr/>
          <p:nvPr/>
        </p:nvSpPr>
        <p:spPr>
          <a:xfrm>
            <a:off x="14411401" y="4866132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Digital Forensics Analyst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GCFE</a:t>
            </a:r>
            <a:endParaRPr lang="en-US" sz="900" dirty="0"/>
          </a:p>
        </p:txBody>
      </p:sp>
      <p:sp>
        <p:nvSpPr>
          <p:cNvPr id="341" name="Text 339"/>
          <p:cNvSpPr/>
          <p:nvPr/>
        </p:nvSpPr>
        <p:spPr>
          <a:xfrm>
            <a:off x="16152876" y="560984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0AB4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Security Operations Forensics</a:t>
            </a:r>
            <a:endParaRPr lang="en-US" sz="650" dirty="0"/>
          </a:p>
        </p:txBody>
      </p:sp>
      <p:sp>
        <p:nvSpPr>
          <p:cNvPr id="342" name="Text 340"/>
          <p:cNvSpPr/>
          <p:nvPr/>
        </p:nvSpPr>
        <p:spPr>
          <a:xfrm>
            <a:off x="17615916" y="560984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F0AB4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Evidentiary &amp; Criminal Investigation</a:t>
            </a:r>
            <a:endParaRPr lang="en-US" sz="650" dirty="0"/>
          </a:p>
        </p:txBody>
      </p:sp>
      <p:sp>
        <p:nvSpPr>
          <p:cNvPr id="343" name="Text 341"/>
          <p:cNvSpPr/>
          <p:nvPr/>
        </p:nvSpPr>
        <p:spPr>
          <a:xfrm>
            <a:off x="14790457" y="612190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Exfiltration Timeline  (VM Lab)</a:t>
            </a:r>
            <a:endParaRPr lang="en-US" sz="700" dirty="0"/>
          </a:p>
        </p:txBody>
      </p:sp>
      <p:sp>
        <p:nvSpPr>
          <p:cNvPr id="344" name="Text 342"/>
          <p:cNvSpPr/>
          <p:nvPr/>
        </p:nvSpPr>
        <p:spPr>
          <a:xfrm>
            <a:off x="14790457" y="657910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Inspect environments for evidence of unauthorised and unlawful actions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Systematically and deterministically document, report and present digital forensic analysis findings and results</a:t>
            </a:r>
            <a:endParaRPr lang="en-US" sz="750" dirty="0"/>
          </a:p>
        </p:txBody>
      </p:sp>
      <p:sp>
        <p:nvSpPr>
          <p:cNvPr id="345" name="Text 343"/>
          <p:cNvSpPr/>
          <p:nvPr/>
        </p:nvSpPr>
        <p:spPr>
          <a:xfrm>
            <a:off x="16674096" y="657910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Identify, analyse and correlate cybersecurity events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and communicate detailed and reasoned investigation reports</a:t>
            </a:r>
            <a:endParaRPr lang="en-US" sz="750" dirty="0"/>
          </a:p>
        </p:txBody>
      </p:sp>
      <p:sp>
        <p:nvSpPr>
          <p:cNvPr id="346" name="Text 344"/>
          <p:cNvSpPr/>
          <p:nvPr/>
        </p:nvSpPr>
        <p:spPr>
          <a:xfrm>
            <a:off x="18557736" y="6579108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Digital forensics analysis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Operating systems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attack procedures</a:t>
            </a:r>
            <a:endParaRPr lang="en-US" sz="750" dirty="0"/>
          </a:p>
        </p:txBody>
      </p:sp>
      <p:sp>
        <p:nvSpPr>
          <p:cNvPr id="347" name="Text 345"/>
          <p:cNvSpPr/>
          <p:nvPr/>
        </p:nvSpPr>
        <p:spPr>
          <a:xfrm>
            <a:off x="14411401" y="8052308"/>
            <a:ext cx="6317590" cy="579120"/>
          </a:xfrm>
          <a:prstGeom prst="rect">
            <a:avLst>
              <a:gd name="adj" fmla="val 7895"/>
            </a:avLst>
          </a:prstGeom>
          <a:solidFill>
            <a:srgbClr val="FDF2E3"/>
          </a:solidFill>
          <a:ln w="12700">
            <a:solidFill>
              <a:srgbClr val="F0AB4D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Lead Forensic Investigator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IACIS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CFCE</a:t>
            </a:r>
            <a:endParaRPr lang="en-US" sz="900" dirty="0"/>
          </a:p>
        </p:txBody>
      </p:sp>
      <p:sp>
        <p:nvSpPr>
          <p:cNvPr id="348" name="Text 346"/>
          <p:cNvSpPr/>
          <p:nvPr/>
        </p:nvSpPr>
        <p:spPr>
          <a:xfrm>
            <a:off x="14790457" y="879602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Cross-Examination  (Tabletop)</a:t>
            </a:r>
            <a:endParaRPr lang="en-US" sz="700" dirty="0"/>
          </a:p>
        </p:txBody>
      </p:sp>
      <p:sp>
        <p:nvSpPr>
          <p:cNvPr id="349" name="Text 347"/>
          <p:cNvSpPr/>
          <p:nvPr/>
        </p:nvSpPr>
        <p:spPr>
          <a:xfrm>
            <a:off x="14790457" y="9253220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digital forensics investigation policy, plans and procedures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Systematically and deterministically document, report and present digital forensic analysis findings and results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Select and customise forensics testing, analysing and reporting techniques</a:t>
            </a:r>
            <a:endParaRPr lang="en-US" sz="750" dirty="0"/>
          </a:p>
        </p:txBody>
      </p:sp>
      <p:sp>
        <p:nvSpPr>
          <p:cNvPr id="350" name="Text 348"/>
          <p:cNvSpPr/>
          <p:nvPr/>
        </p:nvSpPr>
        <p:spPr>
          <a:xfrm>
            <a:off x="16674096" y="9253220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Explain and present digital evidence in a simple, straightforward and easy to understand way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Work ethically and independently; not influenced and biased by internal or external actors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and communicate detailed and reasoned investigation reports</a:t>
            </a:r>
            <a:endParaRPr lang="en-US" sz="750" dirty="0"/>
          </a:p>
        </p:txBody>
      </p:sp>
      <p:sp>
        <p:nvSpPr>
          <p:cNvPr id="351" name="Text 349"/>
          <p:cNvSpPr/>
          <p:nvPr/>
        </p:nvSpPr>
        <p:spPr>
          <a:xfrm>
            <a:off x="18557736" y="9253220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0AB4D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Criminal investigation procedures,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Digital forensics standards, methodologies and frameworks</a:t>
            </a:r>
            <a:endParaRPr lang="en-US" sz="750" dirty="0"/>
          </a:p>
        </p:txBody>
      </p:sp>
      <p:sp>
        <p:nvSpPr>
          <p:cNvPr id="352" name="Text 350"/>
          <p:cNvSpPr/>
          <p:nvPr/>
        </p:nvSpPr>
        <p:spPr>
          <a:xfrm>
            <a:off x="21467826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57C495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Cybersecurity Architect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Ente certificatore: SABSA</a:t>
            </a:r>
            <a:endParaRPr lang="en-US" sz="1100" dirty="0"/>
          </a:p>
        </p:txBody>
      </p:sp>
      <p:sp>
        <p:nvSpPr>
          <p:cNvPr id="353" name="Text 351"/>
          <p:cNvSpPr/>
          <p:nvPr/>
        </p:nvSpPr>
        <p:spPr>
          <a:xfrm>
            <a:off x="21333409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Associate Security Architect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SABSA, GIAC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SCF, GDSA</a:t>
            </a:r>
            <a:endParaRPr lang="en-US" sz="900" dirty="0"/>
          </a:p>
        </p:txBody>
      </p:sp>
      <p:sp>
        <p:nvSpPr>
          <p:cNvPr id="354" name="Text 352"/>
          <p:cNvSpPr/>
          <p:nvPr/>
        </p:nvSpPr>
        <p:spPr>
          <a:xfrm>
            <a:off x="21712465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Reference Diagram  (VM Lab)</a:t>
            </a:r>
            <a:endParaRPr lang="en-US" sz="700" dirty="0"/>
          </a:p>
        </p:txBody>
      </p:sp>
      <p:sp>
        <p:nvSpPr>
          <p:cNvPr id="355" name="Text 353"/>
          <p:cNvSpPr/>
          <p:nvPr/>
        </p:nvSpPr>
        <p:spPr>
          <a:xfrm>
            <a:off x="21712465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Produce architectural documentation and specifications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organisation's cybersecurity architecture to address security and privacy requirements</a:t>
            </a:r>
            <a:endParaRPr lang="en-US" sz="750" dirty="0"/>
          </a:p>
        </p:txBody>
      </p:sp>
      <p:sp>
        <p:nvSpPr>
          <p:cNvPr id="356" name="Text 354"/>
          <p:cNvSpPr/>
          <p:nvPr/>
        </p:nvSpPr>
        <p:spPr>
          <a:xfrm>
            <a:off x="23596104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Draw cybersecurity architectural and functional specifications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develop security and privacy requirements and identify effective solutions</a:t>
            </a:r>
            <a:endParaRPr lang="en-US" sz="750" dirty="0"/>
          </a:p>
        </p:txBody>
      </p:sp>
      <p:sp>
        <p:nvSpPr>
          <p:cNvPr id="357" name="Text 355"/>
          <p:cNvSpPr/>
          <p:nvPr/>
        </p:nvSpPr>
        <p:spPr>
          <a:xfrm>
            <a:off x="25479744" y="3624072"/>
            <a:ext cx="1792200" cy="937006"/>
          </a:xfrm>
          <a:prstGeom prst="rect">
            <a:avLst>
              <a:gd name="adj" fmla="val 4879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Security architecture reference models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Secure development lifecycle</a:t>
            </a:r>
            <a:endParaRPr lang="en-US" sz="750" dirty="0"/>
          </a:p>
        </p:txBody>
      </p:sp>
      <p:sp>
        <p:nvSpPr>
          <p:cNvPr id="358" name="Text 356"/>
          <p:cNvSpPr/>
          <p:nvPr/>
        </p:nvSpPr>
        <p:spPr>
          <a:xfrm>
            <a:off x="21333409" y="4981702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Cybersecurity Solutions Architect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SABSA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SCP</a:t>
            </a:r>
            <a:endParaRPr lang="en-US" sz="900" dirty="0"/>
          </a:p>
        </p:txBody>
      </p:sp>
      <p:sp>
        <p:nvSpPr>
          <p:cNvPr id="359" name="Text 357"/>
          <p:cNvSpPr/>
          <p:nvPr/>
        </p:nvSpPr>
        <p:spPr>
          <a:xfrm>
            <a:off x="21712465" y="572541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Steering Committee  (VM Lab)</a:t>
            </a:r>
            <a:endParaRPr lang="en-US" sz="700" dirty="0"/>
          </a:p>
        </p:txBody>
      </p:sp>
      <p:sp>
        <p:nvSpPr>
          <p:cNvPr id="360" name="Text 358"/>
          <p:cNvSpPr/>
          <p:nvPr/>
        </p:nvSpPr>
        <p:spPr>
          <a:xfrm>
            <a:off x="21712465" y="6182614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Design and propose a secure architecture to implement the organisation's strategy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Present high-level security architecture design to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Establish a secure environment during the development lifecycle of systems, services and products</a:t>
            </a:r>
            <a:endParaRPr lang="en-US" sz="750" dirty="0"/>
          </a:p>
        </p:txBody>
      </p:sp>
      <p:sp>
        <p:nvSpPr>
          <p:cNvPr id="361" name="Text 359"/>
          <p:cNvSpPr/>
          <p:nvPr/>
        </p:nvSpPr>
        <p:spPr>
          <a:xfrm>
            <a:off x="23596104" y="6182614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Propose cybersecurity architectures based on stakeholder's needs and budget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</p:txBody>
      </p:sp>
      <p:sp>
        <p:nvSpPr>
          <p:cNvPr id="362" name="Text 360"/>
          <p:cNvSpPr/>
          <p:nvPr/>
        </p:nvSpPr>
        <p:spPr>
          <a:xfrm>
            <a:off x="25479744" y="6182614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requirements analysis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Privacy-Enhancing Technologies (PET)</a:t>
            </a:r>
            <a:endParaRPr lang="en-US" sz="750" dirty="0"/>
          </a:p>
        </p:txBody>
      </p:sp>
      <p:sp>
        <p:nvSpPr>
          <p:cNvPr id="363" name="Text 361"/>
          <p:cNvSpPr/>
          <p:nvPr/>
        </p:nvSpPr>
        <p:spPr>
          <a:xfrm>
            <a:off x="21333409" y="7771384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Principal Security Architect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SABSA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SCM</a:t>
            </a:r>
            <a:endParaRPr lang="en-US" sz="900" dirty="0"/>
          </a:p>
        </p:txBody>
      </p:sp>
      <p:sp>
        <p:nvSpPr>
          <p:cNvPr id="364" name="Text 362"/>
          <p:cNvSpPr/>
          <p:nvPr/>
        </p:nvSpPr>
        <p:spPr>
          <a:xfrm>
            <a:off x="21712465" y="851509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Legacy Exception  (Tabletop)</a:t>
            </a:r>
            <a:endParaRPr lang="en-US" sz="700" dirty="0"/>
          </a:p>
        </p:txBody>
      </p:sp>
      <p:sp>
        <p:nvSpPr>
          <p:cNvPr id="365" name="Text 363"/>
          <p:cNvSpPr/>
          <p:nvPr/>
        </p:nvSpPr>
        <p:spPr>
          <a:xfrm>
            <a:off x="21712465" y="897229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Adapt the organisation's architecture to emerging threats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Assess the implemented architecture to maintain an appropriate level of security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Assure the security of the solution architectures through security reviews and certification</a:t>
            </a:r>
            <a:endParaRPr lang="en-US" sz="750" dirty="0"/>
          </a:p>
        </p:txBody>
      </p:sp>
      <p:sp>
        <p:nvSpPr>
          <p:cNvPr id="366" name="Text 364"/>
          <p:cNvSpPr/>
          <p:nvPr/>
        </p:nvSpPr>
        <p:spPr>
          <a:xfrm>
            <a:off x="23596104" y="897229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Build resilience against points of failure across the architecture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Coordinate the integration of security solutions</a:t>
            </a:r>
            <a:endParaRPr lang="en-US" sz="750" dirty="0"/>
          </a:p>
        </p:txBody>
      </p:sp>
      <p:sp>
        <p:nvSpPr>
          <p:cNvPr id="367" name="Text 365"/>
          <p:cNvSpPr/>
          <p:nvPr/>
        </p:nvSpPr>
        <p:spPr>
          <a:xfrm>
            <a:off x="25479744" y="8972296"/>
            <a:ext cx="1792200" cy="1168146"/>
          </a:xfrm>
          <a:prstGeom prst="rect">
            <a:avLst>
              <a:gd name="adj" fmla="val 391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trends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Legacy cybersecurity procedures</a:t>
            </a:r>
            <a:endParaRPr lang="en-US" sz="750" dirty="0"/>
          </a:p>
        </p:txBody>
      </p:sp>
      <p:sp>
        <p:nvSpPr>
          <p:cNvPr id="368" name="Text 366"/>
          <p:cNvSpPr/>
          <p:nvPr/>
        </p:nvSpPr>
        <p:spPr>
          <a:xfrm>
            <a:off x="28389834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57C495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Cybersecurity Educator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Enti certificatori: CompTIA, EC-Council, ATD</a:t>
            </a:r>
            <a:endParaRPr lang="en-US" sz="1100" dirty="0"/>
          </a:p>
        </p:txBody>
      </p:sp>
      <p:sp>
        <p:nvSpPr>
          <p:cNvPr id="369" name="Text 367"/>
          <p:cNvSpPr/>
          <p:nvPr/>
        </p:nvSpPr>
        <p:spPr>
          <a:xfrm>
            <a:off x="28255417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Cybersecurity Trainer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CompTIA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CTT+</a:t>
            </a:r>
            <a:endParaRPr lang="en-US" sz="900" dirty="0"/>
          </a:p>
        </p:txBody>
      </p:sp>
      <p:sp>
        <p:nvSpPr>
          <p:cNvPr id="370" name="Text 368"/>
          <p:cNvSpPr/>
          <p:nvPr/>
        </p:nvSpPr>
        <p:spPr>
          <a:xfrm>
            <a:off x="28634473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Phishing Awareness Session  (VM Lab)</a:t>
            </a:r>
            <a:endParaRPr lang="en-US" sz="700" dirty="0"/>
          </a:p>
        </p:txBody>
      </p:sp>
      <p:sp>
        <p:nvSpPr>
          <p:cNvPr id="371" name="Text 369"/>
          <p:cNvSpPr/>
          <p:nvPr/>
        </p:nvSpPr>
        <p:spPr>
          <a:xfrm>
            <a:off x="28634473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Organise, design and deliver cybersecurity and data protection awareness-raising activities, seminars, courses, practical training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Monitor, evaluate and report training effectiveness</a:t>
            </a:r>
            <a:endParaRPr lang="en-US" sz="750" dirty="0"/>
          </a:p>
        </p:txBody>
      </p:sp>
      <p:sp>
        <p:nvSpPr>
          <p:cNvPr id="372" name="Text 370"/>
          <p:cNvSpPr/>
          <p:nvPr/>
        </p:nvSpPr>
        <p:spPr>
          <a:xfrm>
            <a:off x="30518112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Utilise existing cybersecurity-related training resources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select appropriate pedagogical approaches for the intended audience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Motivate and encourage people</a:t>
            </a:r>
            <a:endParaRPr lang="en-US" sz="750" dirty="0"/>
          </a:p>
        </p:txBody>
      </p:sp>
      <p:sp>
        <p:nvSpPr>
          <p:cNvPr id="373" name="Text 371"/>
          <p:cNvSpPr/>
          <p:nvPr/>
        </p:nvSpPr>
        <p:spPr>
          <a:xfrm>
            <a:off x="32401752" y="3624072"/>
            <a:ext cx="1792200" cy="1052576"/>
          </a:xfrm>
          <a:prstGeom prst="rect">
            <a:avLst>
              <a:gd name="adj" fmla="val 4344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Pedagogical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recommendations and best practices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education and training standards, methodologies and frameworks</a:t>
            </a:r>
            <a:endParaRPr lang="en-US" sz="750" dirty="0"/>
          </a:p>
        </p:txBody>
      </p:sp>
      <p:sp>
        <p:nvSpPr>
          <p:cNvPr id="374" name="Text 372"/>
          <p:cNvSpPr/>
          <p:nvPr/>
        </p:nvSpPr>
        <p:spPr>
          <a:xfrm>
            <a:off x="28255417" y="5097272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Certified Cybersecurity Instructor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EC-Council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CEI</a:t>
            </a:r>
            <a:endParaRPr lang="en-US" sz="900" dirty="0"/>
          </a:p>
        </p:txBody>
      </p:sp>
      <p:sp>
        <p:nvSpPr>
          <p:cNvPr id="375" name="Text 373"/>
          <p:cNvSpPr/>
          <p:nvPr/>
        </p:nvSpPr>
        <p:spPr>
          <a:xfrm>
            <a:off x="29996892" y="584098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57C495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Curriculum &amp; Programme Design</a:t>
            </a:r>
            <a:endParaRPr lang="en-US" sz="650" dirty="0"/>
          </a:p>
        </p:txBody>
      </p:sp>
      <p:sp>
        <p:nvSpPr>
          <p:cNvPr id="376" name="Text 374"/>
          <p:cNvSpPr/>
          <p:nvPr/>
        </p:nvSpPr>
        <p:spPr>
          <a:xfrm>
            <a:off x="31459932" y="5840984"/>
            <a:ext cx="1371600" cy="347472"/>
          </a:xfrm>
          <a:prstGeom prst="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57C495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1F2A44"/>
                </a:solidFill>
              </a:rPr>
              <a:t>Live Instruction &amp; Delivery</a:t>
            </a:r>
            <a:endParaRPr lang="en-US" sz="650" dirty="0"/>
          </a:p>
        </p:txBody>
      </p:sp>
      <p:sp>
        <p:nvSpPr>
          <p:cNvPr id="377" name="Text 375"/>
          <p:cNvSpPr/>
          <p:nvPr/>
        </p:nvSpPr>
        <p:spPr>
          <a:xfrm>
            <a:off x="28634473" y="6353048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Certification Bootcamp  (VM Lab)</a:t>
            </a:r>
            <a:endParaRPr lang="en-US" sz="700" dirty="0"/>
          </a:p>
        </p:txBody>
      </p:sp>
      <p:sp>
        <p:nvSpPr>
          <p:cNvPr id="378" name="Text 376"/>
          <p:cNvSpPr/>
          <p:nvPr/>
        </p:nvSpPr>
        <p:spPr>
          <a:xfrm>
            <a:off x="28634473" y="6810248"/>
            <a:ext cx="1792200" cy="1514856"/>
          </a:xfrm>
          <a:prstGeom prst="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Develop, update and deliver cybersecurity and data protection curricula and educational material for training and awareness based on content, method, tools, trainees need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Design, develop and deliver cybersecurity simulations, virtual labs or cyber range environments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Provide guidance on cybersecurity certification programs for individuals</a:t>
            </a:r>
            <a:endParaRPr lang="en-US" sz="750" dirty="0"/>
          </a:p>
        </p:txBody>
      </p:sp>
      <p:sp>
        <p:nvSpPr>
          <p:cNvPr id="379" name="Text 377"/>
          <p:cNvSpPr/>
          <p:nvPr/>
        </p:nvSpPr>
        <p:spPr>
          <a:xfrm>
            <a:off x="30518112" y="6810248"/>
            <a:ext cx="1792200" cy="1514856"/>
          </a:xfrm>
          <a:prstGeom prst="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Design, develop and deliver learning programmes to cover cybersecurity needs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cybersecurity exercises including simulations using cyber range environments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Provide training towards cybersecurity and data protection professional certifications</a:t>
            </a:r>
            <a:endParaRPr lang="en-US" sz="750" dirty="0"/>
          </a:p>
        </p:txBody>
      </p:sp>
      <p:sp>
        <p:nvSpPr>
          <p:cNvPr id="380" name="Text 378"/>
          <p:cNvSpPr/>
          <p:nvPr/>
        </p:nvSpPr>
        <p:spPr>
          <a:xfrm>
            <a:off x="32401752" y="6810248"/>
            <a:ext cx="1792200" cy="1514856"/>
          </a:xfrm>
          <a:prstGeom prst="rect">
            <a:avLst>
              <a:gd name="adj" fmla="val 3018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awareness, education and training programme development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certifications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standards, methodologies and frameworks</a:t>
            </a:r>
            <a:endParaRPr lang="en-US" sz="750" dirty="0"/>
          </a:p>
        </p:txBody>
      </p:sp>
      <p:sp>
        <p:nvSpPr>
          <p:cNvPr id="381" name="Text 379"/>
          <p:cNvSpPr/>
          <p:nvPr/>
        </p:nvSpPr>
        <p:spPr>
          <a:xfrm>
            <a:off x="28255417" y="8745728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Training Programme Lead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ATD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CPTD</a:t>
            </a:r>
            <a:endParaRPr lang="en-US" sz="900" dirty="0"/>
          </a:p>
        </p:txBody>
      </p:sp>
      <p:sp>
        <p:nvSpPr>
          <p:cNvPr id="382" name="Text 380"/>
          <p:cNvSpPr/>
          <p:nvPr/>
        </p:nvSpPr>
        <p:spPr>
          <a:xfrm>
            <a:off x="28634473" y="9489440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Board Review  (Tabletop)</a:t>
            </a:r>
            <a:endParaRPr lang="en-US" sz="700" dirty="0"/>
          </a:p>
        </p:txBody>
      </p:sp>
      <p:sp>
        <p:nvSpPr>
          <p:cNvPr id="383" name="Text 381"/>
          <p:cNvSpPr/>
          <p:nvPr/>
        </p:nvSpPr>
        <p:spPr>
          <a:xfrm>
            <a:off x="28634473" y="9946640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Finding new approaches for education, training and awareness-raising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Continuously maintain and enhance expertise; encourage and empower continuous enhancement of cybersecurity capacities and capabilities building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Monitor, evaluate and report training effectiveness</a:t>
            </a:r>
            <a:endParaRPr lang="en-US" sz="750" dirty="0"/>
          </a:p>
        </p:txBody>
      </p:sp>
      <p:sp>
        <p:nvSpPr>
          <p:cNvPr id="384" name="Text 382"/>
          <p:cNvSpPr/>
          <p:nvPr/>
        </p:nvSpPr>
        <p:spPr>
          <a:xfrm>
            <a:off x="30518112" y="9946640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Develop evaluation programs for the awareness, training and education activities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needs in cybersecurity awareness, training and education</a:t>
            </a:r>
            <a:endParaRPr lang="en-US" sz="750" dirty="0"/>
          </a:p>
        </p:txBody>
      </p:sp>
      <p:sp>
        <p:nvSpPr>
          <p:cNvPr id="385" name="Text 383"/>
          <p:cNvSpPr/>
          <p:nvPr/>
        </p:nvSpPr>
        <p:spPr>
          <a:xfrm>
            <a:off x="32401752" y="9946640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awareness, education and training programme development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related laws, regulations and legislations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education and training standards, methodologies and frameworks</a:t>
            </a:r>
            <a:endParaRPr lang="en-US" sz="750" dirty="0"/>
          </a:p>
        </p:txBody>
      </p:sp>
      <p:sp>
        <p:nvSpPr>
          <p:cNvPr id="386" name="Text 384"/>
          <p:cNvSpPr/>
          <p:nvPr/>
        </p:nvSpPr>
        <p:spPr>
          <a:xfrm>
            <a:off x="35311842" y="1371600"/>
            <a:ext cx="6048756" cy="777240"/>
          </a:xfrm>
          <a:prstGeom prst="rect">
            <a:avLst>
              <a:gd name="adj" fmla="val 5882"/>
            </a:avLst>
          </a:prstGeom>
          <a:solidFill>
            <a:srgbClr val="57C495"/>
          </a:solidFill>
          <a:ln w="12700">
            <a:solidFill>
              <a:srgbClr val="1F2A44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Cybersecurity Researcher</a:t>
            </a:r>
            <a:endParaRPr lang="en-US" sz="110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Enti certificatori: GIAC, ACM</a:t>
            </a:r>
            <a:endParaRPr lang="en-US" sz="1100" dirty="0"/>
          </a:p>
        </p:txBody>
      </p:sp>
      <p:sp>
        <p:nvSpPr>
          <p:cNvPr id="387" name="Text 385"/>
          <p:cNvSpPr/>
          <p:nvPr/>
        </p:nvSpPr>
        <p:spPr>
          <a:xfrm>
            <a:off x="35177425" y="2423160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Associate Research Engineer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GREM</a:t>
            </a:r>
            <a:endParaRPr lang="en-US" sz="900" dirty="0"/>
          </a:p>
        </p:txBody>
      </p:sp>
      <p:sp>
        <p:nvSpPr>
          <p:cNvPr id="388" name="Text 386"/>
          <p:cNvSpPr/>
          <p:nvPr/>
        </p:nvSpPr>
        <p:spPr>
          <a:xfrm>
            <a:off x="35556481" y="3166872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Sample Vault  (VM Lab)</a:t>
            </a:r>
            <a:endParaRPr lang="en-US" sz="700" dirty="0"/>
          </a:p>
        </p:txBody>
      </p:sp>
      <p:sp>
        <p:nvSpPr>
          <p:cNvPr id="389" name="Text 387"/>
          <p:cNvSpPr/>
          <p:nvPr/>
        </p:nvSpPr>
        <p:spPr>
          <a:xfrm>
            <a:off x="35556481" y="3624072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Conduct experiments and develop a proof of concept, pilots and prototypes for cybersecurity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Select and apply frameworks, methods, standards, tools and protocols including building and testing a proof of concept to support projects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Analyse and assess cybersecurity technologies, solutions, developments and processes</a:t>
            </a:r>
            <a:endParaRPr lang="en-US" sz="750" dirty="0"/>
          </a:p>
        </p:txBody>
      </p:sp>
      <p:sp>
        <p:nvSpPr>
          <p:cNvPr id="390" name="Text 388"/>
          <p:cNvSpPr/>
          <p:nvPr/>
        </p:nvSpPr>
        <p:spPr>
          <a:xfrm>
            <a:off x="37440120" y="3624072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identify weaknesses and ineffective controls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solve cybersecurity-related issues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Monitor new advancements in cybersecurity-related technologies</a:t>
            </a:r>
            <a:endParaRPr lang="en-US" sz="750" dirty="0"/>
          </a:p>
        </p:txBody>
      </p:sp>
      <p:sp>
        <p:nvSpPr>
          <p:cNvPr id="391" name="Text 389"/>
          <p:cNvSpPr/>
          <p:nvPr/>
        </p:nvSpPr>
        <p:spPr>
          <a:xfrm>
            <a:off x="39323760" y="3624072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research, development and innovation (RDI)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standards, methodologies and frameworks</a:t>
            </a:r>
            <a:endParaRPr lang="en-US" sz="750" dirty="0"/>
          </a:p>
        </p:txBody>
      </p:sp>
      <p:sp>
        <p:nvSpPr>
          <p:cNvPr id="392" name="Text 390"/>
          <p:cNvSpPr/>
          <p:nvPr/>
        </p:nvSpPr>
        <p:spPr>
          <a:xfrm>
            <a:off x="35177425" y="5443982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Senior Security Researcher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GIAC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GXPN</a:t>
            </a:r>
            <a:endParaRPr lang="en-US" sz="900" dirty="0"/>
          </a:p>
        </p:txBody>
      </p:sp>
      <p:sp>
        <p:nvSpPr>
          <p:cNvPr id="393" name="Text 391"/>
          <p:cNvSpPr/>
          <p:nvPr/>
        </p:nvSpPr>
        <p:spPr>
          <a:xfrm>
            <a:off x="35556481" y="6187694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Zero-Day Clock  (VM Lab)</a:t>
            </a:r>
            <a:endParaRPr lang="en-US" sz="700" dirty="0"/>
          </a:p>
        </p:txBody>
      </p:sp>
      <p:sp>
        <p:nvSpPr>
          <p:cNvPr id="394" name="Text 392"/>
          <p:cNvSpPr/>
          <p:nvPr/>
        </p:nvSpPr>
        <p:spPr>
          <a:xfrm>
            <a:off x="35556481" y="6644894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Advance the current state-of-the-art in cybersecurity-related topics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cross-sectoral cybersecurity achievements and apply them in a different context or propose innovative approaches and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Publish and present scientific works and research and development results</a:t>
            </a:r>
            <a:endParaRPr lang="en-US" sz="750" dirty="0"/>
          </a:p>
        </p:txBody>
      </p:sp>
      <p:sp>
        <p:nvSpPr>
          <p:cNvPr id="395" name="Text 393"/>
          <p:cNvSpPr/>
          <p:nvPr/>
        </p:nvSpPr>
        <p:spPr>
          <a:xfrm>
            <a:off x="37440120" y="6644894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Generate new ideas and transfer theory into practice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Decompose and analyse systems to develop security and privacy requirements and identify effective solutions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Identify and solve cybersecurity-related issues</a:t>
            </a:r>
            <a:endParaRPr lang="en-US" sz="750" dirty="0"/>
          </a:p>
        </p:txBody>
      </p:sp>
      <p:sp>
        <p:nvSpPr>
          <p:cNvPr id="396" name="Text 394"/>
          <p:cNvSpPr/>
          <p:nvPr/>
        </p:nvSpPr>
        <p:spPr>
          <a:xfrm>
            <a:off x="39323760" y="6644894"/>
            <a:ext cx="1792200" cy="1283716"/>
          </a:xfrm>
          <a:prstGeom prst="rect">
            <a:avLst>
              <a:gd name="adj" fmla="val 3562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research, development and innovation (RDI)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 standards, methodologies and frameworks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Responsible information disclosure procedures</a:t>
            </a:r>
            <a:endParaRPr lang="en-US" sz="750" dirty="0"/>
          </a:p>
        </p:txBody>
      </p:sp>
      <p:sp>
        <p:nvSpPr>
          <p:cNvPr id="397" name="Text 395"/>
          <p:cNvSpPr/>
          <p:nvPr/>
        </p:nvSpPr>
        <p:spPr>
          <a:xfrm>
            <a:off x="35177425" y="8349234"/>
            <a:ext cx="6317590" cy="579120"/>
          </a:xfrm>
          <a:prstGeom prst="rect">
            <a:avLst>
              <a:gd name="adj" fmla="val 7895"/>
            </a:avLst>
          </a:prstGeom>
          <a:solidFill>
            <a:srgbClr val="EAFBF3"/>
          </a:solidFill>
          <a:ln w="12700">
            <a:solidFill>
              <a:srgbClr val="57C495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</a:rPr>
              <a:t>Chief Research 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Ente certificatore: ACM</a:t>
            </a:r>
            <a:endParaRPr lang="en-US" sz="9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Nome certificazione: Distinguished Member, Fellow</a:t>
            </a:r>
            <a:endParaRPr lang="en-US" sz="900" dirty="0"/>
          </a:p>
        </p:txBody>
      </p:sp>
      <p:sp>
        <p:nvSpPr>
          <p:cNvPr id="398" name="Text 396"/>
          <p:cNvSpPr/>
          <p:nvPr/>
        </p:nvSpPr>
        <p:spPr>
          <a:xfrm>
            <a:off x="35556481" y="9092946"/>
            <a:ext cx="5559479" cy="310896"/>
          </a:xfrm>
          <a:prstGeom prst="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5B6680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2A44"/>
                </a:solidFill>
              </a:rPr>
              <a:t>The Disclosure Dilemma  (Tabletop)</a:t>
            </a:r>
            <a:endParaRPr lang="en-US" sz="700" dirty="0"/>
          </a:p>
        </p:txBody>
      </p:sp>
      <p:sp>
        <p:nvSpPr>
          <p:cNvPr id="399" name="Text 397"/>
          <p:cNvSpPr/>
          <p:nvPr/>
        </p:nvSpPr>
        <p:spPr>
          <a:xfrm>
            <a:off x="35556481" y="9550146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TASK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Lead or participate in the innovation processes and projects including project management and budgeting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Assist in cybersecurity-related capacity building including awareness, theoretical training, practical training, testing, mentoring, supervising and sharing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Manifest and generate research and innovation ideas</a:t>
            </a:r>
            <a:endParaRPr lang="en-US" sz="750" dirty="0"/>
          </a:p>
        </p:txBody>
      </p:sp>
      <p:sp>
        <p:nvSpPr>
          <p:cNvPr id="400" name="Text 398"/>
          <p:cNvSpPr/>
          <p:nvPr/>
        </p:nvSpPr>
        <p:spPr>
          <a:xfrm>
            <a:off x="37440120" y="9550146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SKILLS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Communicate, present and report to relevant stakeholders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Collaborate with other team members and colleagues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Generate new ideas and transfer theory into practice</a:t>
            </a:r>
            <a:endParaRPr lang="en-US" sz="750" dirty="0"/>
          </a:p>
        </p:txBody>
      </p:sp>
      <p:sp>
        <p:nvSpPr>
          <p:cNvPr id="401" name="Text 399"/>
          <p:cNvSpPr/>
          <p:nvPr/>
        </p:nvSpPr>
        <p:spPr>
          <a:xfrm>
            <a:off x="39323760" y="9550146"/>
            <a:ext cx="1792200" cy="1399286"/>
          </a:xfrm>
          <a:prstGeom prst="rect">
            <a:avLst>
              <a:gd name="adj" fmla="val 3267"/>
            </a:avLst>
          </a:prstGeom>
          <a:solidFill>
            <a:srgbClr val="FFFFFF"/>
          </a:solidFill>
          <a:ln w="12700">
            <a:solidFill>
              <a:srgbClr val="C7CCDA"/>
            </a:solidFill>
            <a:prstDash val="solid"/>
          </a:ln>
        </p:spPr>
        <p:txBody>
          <a:bodyPr wrap="square" lIns="38100" tIns="38100" rIns="38100" bIns="3810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7C495"/>
                </a:solidFill>
              </a:rPr>
              <a:t>KNOWLEDGE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Cybersecurity-related research, development and innovation (RDI)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Legal, regulatory and legislative requirements on releasing or using cybersecurity related technologies</a:t>
            </a:r>
            <a:endParaRPr lang="en-US" sz="75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5B6680"/>
                </a:solidFill>
              </a:rPr>
              <a:t>•  Multidiscipline aspect of cybersecurity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CPPT — Framework Skeleton</dc:title>
  <dc:subject>PptxGenJS Presentation</dc:subject>
  <dc:creator>CPPT</dc:creator>
  <cp:lastModifiedBy>CPPT</cp:lastModifiedBy>
  <cp:revision>1</cp:revision>
  <dcterms:created xsi:type="dcterms:W3CDTF">2026-10-07T14:51:17Z</dcterms:created>
  <dcterms:modified xsi:type="dcterms:W3CDTF">2026-10-07T14:51:17Z</dcterms:modified>
</cp:coreProperties>
</file>